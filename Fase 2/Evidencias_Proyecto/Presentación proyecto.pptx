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18" roundtripDataSignature="AMtx7mjuOc72F35r0PB9vUquEX6QqAx9v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18" Type="http://customschemas.google.com/relationships/presentationmetadata" Target="metadata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88" name="Google Shape;88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16" name="Google Shape;116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g38e2c4947a4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27" name="Google Shape;127;g38e2c4947a4_0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g37c31d335ee_0_6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39" name="Google Shape;139;g37c31d335ee_0_63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g38e2c4947a4_0_38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48" name="Google Shape;148;g38e2c4947a4_0_385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57" name="Google Shape;157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g39d9aee7fe7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67" name="Google Shape;167;g39d9aee7fe7_0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g38e2c4947a4_0_2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76" name="Google Shape;176;g38e2c4947a4_0_28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g38e2c4947a4_0_28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91" name="Google Shape;191;g38e2c4947a4_0_288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g38e2c4947a4_0_4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98" name="Google Shape;198;g38e2c4947a4_0_48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05" name="Google Shape;205;p1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iapositiva de título" type="title">
  <p:cSld name="TITLE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6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16"/>
          <p:cNvSpPr txBox="1"/>
          <p:nvPr>
            <p:ph idx="1" type="subTitle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14" name="Google Shape;14;p1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" name="Google Shape;15;p1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" name="Google Shape;16;p1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/>
              <a:t>‹#›</a:t>
            </a:fld>
            <a:endParaRPr/>
          </a:p>
        </p:txBody>
      </p:sp>
    </p:spTree>
  </p:cSld>
  <p:clrMapOvr>
    <a:masterClrMapping/>
  </p:clrMapOvr>
  <p:transition spd="slow">
    <p:wipe dir="l"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y objetos" type="obj">
  <p:cSld name="OBJECT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17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0" name="Google Shape;20;p1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1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" name="Google Shape;22;p17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/>
              <a:t>‹#›</a:t>
            </a:fld>
            <a:endParaRPr/>
          </a:p>
        </p:txBody>
      </p:sp>
    </p:spTree>
  </p:cSld>
  <p:clrMapOvr>
    <a:masterClrMapping/>
  </p:clrMapOvr>
  <p:transition spd="slow">
    <p:wipe dir="l"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Encabezado de sección" type="secHead">
  <p:cSld name="SECTION_HEADER"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18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18"/>
          <p:cNvSpPr txBox="1"/>
          <p:nvPr>
            <p:ph idx="1" type="body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26" name="Google Shape;26;p1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1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1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/>
              <a:t>‹#›</a:t>
            </a:fld>
            <a:endParaRPr/>
          </a:p>
        </p:txBody>
      </p:sp>
    </p:spTree>
  </p:cSld>
  <p:clrMapOvr>
    <a:masterClrMapping/>
  </p:clrMapOvr>
  <p:transition spd="slow">
    <p:wipe dir="l"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os objetos" type="twoObj">
  <p:cSld name="TWO_OBJECTS"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19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19"/>
          <p:cNvSpPr txBox="1"/>
          <p:nvPr>
            <p:ph idx="1" type="body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2" name="Google Shape;32;p19"/>
          <p:cNvSpPr txBox="1"/>
          <p:nvPr>
            <p:ph idx="2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" name="Google Shape;33;p1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1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1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/>
              <a:t>‹#›</a:t>
            </a:fld>
            <a:endParaRPr/>
          </a:p>
        </p:txBody>
      </p:sp>
    </p:spTree>
  </p:cSld>
  <p:clrMapOvr>
    <a:masterClrMapping/>
  </p:clrMapOvr>
  <p:transition spd="slow">
    <p:wipe dir="l"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ación" type="twoTxTwoObj">
  <p:cSld name="TWO_OBJECTS_WITH_TEXT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20"/>
          <p:cNvSpPr txBox="1"/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20"/>
          <p:cNvSpPr txBox="1"/>
          <p:nvPr>
            <p:ph idx="1" type="body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20"/>
          <p:cNvSpPr txBox="1"/>
          <p:nvPr>
            <p:ph idx="2" type="body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" name="Google Shape;40;p20"/>
          <p:cNvSpPr txBox="1"/>
          <p:nvPr>
            <p:ph idx="3" type="body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1" name="Google Shape;41;p20"/>
          <p:cNvSpPr txBox="1"/>
          <p:nvPr>
            <p:ph idx="4" type="body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" name="Google Shape;42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/>
              <a:t>‹#›</a:t>
            </a:fld>
            <a:endParaRPr/>
          </a:p>
        </p:txBody>
      </p:sp>
    </p:spTree>
  </p:cSld>
  <p:clrMapOvr>
    <a:masterClrMapping/>
  </p:clrMapOvr>
  <p:transition spd="slow">
    <p:wipe dir="l"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lo el título" type="titleOnly">
  <p:cSld name="TITLE_ONLY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21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2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2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2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/>
              <a:t>‹#›</a:t>
            </a:fld>
            <a:endParaRPr/>
          </a:p>
        </p:txBody>
      </p:sp>
    </p:spTree>
  </p:cSld>
  <p:clrMapOvr>
    <a:masterClrMapping/>
  </p:clrMapOvr>
  <p:transition spd="slow">
    <p:wipe dir="l"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En blanco" type="blank">
  <p:cSld name="BLANK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2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2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2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/>
              <a:t>‹#›</a:t>
            </a:fld>
            <a:endParaRPr/>
          </a:p>
        </p:txBody>
      </p:sp>
    </p:spTree>
  </p:cSld>
  <p:clrMapOvr>
    <a:masterClrMapping/>
  </p:clrMapOvr>
  <p:transition spd="slow">
    <p:wipe dir="l"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ido con título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3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23"/>
          <p:cNvSpPr txBox="1"/>
          <p:nvPr>
            <p:ph idx="1" type="body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indent="-3810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indent="-355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23"/>
          <p:cNvSpPr txBox="1"/>
          <p:nvPr>
            <p:ph idx="2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58" name="Google Shape;58;p2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2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2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/>
              <a:t>‹#›</a:t>
            </a:fld>
            <a:endParaRPr/>
          </a:p>
        </p:txBody>
      </p:sp>
    </p:spTree>
  </p:cSld>
  <p:clrMapOvr>
    <a:masterClrMapping/>
  </p:clrMapOvr>
  <p:transition spd="slow">
    <p:wipe dir="l"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magen con título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24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24"/>
          <p:cNvSpPr/>
          <p:nvPr>
            <p:ph idx="2" type="pic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24"/>
          <p:cNvSpPr txBox="1"/>
          <p:nvPr>
            <p:ph idx="1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5" name="Google Shape;65;p2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2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2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/>
              <a:t>‹#›</a:t>
            </a:fld>
            <a:endParaRPr/>
          </a:p>
        </p:txBody>
      </p:sp>
    </p:spTree>
  </p:cSld>
  <p:clrMapOvr>
    <a:masterClrMapping/>
  </p:clrMapOvr>
  <p:transition spd="slow">
    <p:wipe dir="l"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y texto vertical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2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25"/>
          <p:cNvSpPr txBox="1"/>
          <p:nvPr>
            <p:ph idx="1" type="body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2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2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2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/>
              <a:t>‹#›</a:t>
            </a:fld>
            <a:endParaRPr/>
          </a:p>
        </p:txBody>
      </p:sp>
    </p:spTree>
  </p:cSld>
  <p:clrMapOvr>
    <a:masterClrMapping/>
  </p:clrMapOvr>
  <p:transition spd="slow">
    <p:wipe dir="l"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vertical y texto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6"/>
          <p:cNvSpPr txBox="1"/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26"/>
          <p:cNvSpPr txBox="1"/>
          <p:nvPr>
            <p:ph idx="1" type="body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2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2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2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/>
              <a:t>‹#›</a:t>
            </a:fld>
            <a:endParaRPr/>
          </a:p>
        </p:txBody>
      </p:sp>
    </p:spTree>
  </p:cSld>
  <p:clrMapOvr>
    <a:masterClrMapping/>
  </p:clrMapOvr>
  <p:transition spd="slow">
    <p:wipe dir="l"/>
  </p:transition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15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 spd="slow">
    <p:wipe dir="l"/>
  </p:transition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jp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jp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jpg"/><Relationship Id="rId4" Type="http://schemas.openxmlformats.org/officeDocument/2006/relationships/hyperlink" Target="https://dgvcapstone.atlassian.net/jira/software/projects/SCRUM/boards/1/backlog" TargetMode="Externa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jpg"/><Relationship Id="rId4" Type="http://schemas.openxmlformats.org/officeDocument/2006/relationships/hyperlink" Target="https://dgvcapstone.atlassian.net/jira/software/projects/SCRUM/boards/1/backlog" TargetMode="External"/><Relationship Id="rId5" Type="http://schemas.openxmlformats.org/officeDocument/2006/relationships/image" Target="../media/image10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jpg"/><Relationship Id="rId4" Type="http://schemas.openxmlformats.org/officeDocument/2006/relationships/image" Target="../media/image11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jpg"/><Relationship Id="rId4" Type="http://schemas.openxmlformats.org/officeDocument/2006/relationships/image" Target="../media/image8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jpg"/><Relationship Id="rId4" Type="http://schemas.openxmlformats.org/officeDocument/2006/relationships/image" Target="../media/image4.png"/><Relationship Id="rId9" Type="http://schemas.openxmlformats.org/officeDocument/2006/relationships/image" Target="../media/image9.png"/><Relationship Id="rId5" Type="http://schemas.openxmlformats.org/officeDocument/2006/relationships/image" Target="../media/image1.png"/><Relationship Id="rId6" Type="http://schemas.openxmlformats.org/officeDocument/2006/relationships/image" Target="../media/image5.png"/><Relationship Id="rId7" Type="http://schemas.openxmlformats.org/officeDocument/2006/relationships/image" Target="../media/image7.png"/><Relationship Id="rId8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jp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jp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84" name="Google Shape;84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1"/>
          <p:cNvSpPr txBox="1"/>
          <p:nvPr/>
        </p:nvSpPr>
        <p:spPr>
          <a:xfrm>
            <a:off x="1062600" y="1966800"/>
            <a:ext cx="10066800" cy="292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0"/>
              <a:buFont typeface="Arial"/>
              <a:buNone/>
            </a:pPr>
            <a:r>
              <a:rPr b="0" i="0" lang="es-MX" sz="8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PROYECTO </a:t>
            </a:r>
            <a:endParaRPr b="0" i="0" sz="8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0"/>
              <a:buFont typeface="Arial"/>
              <a:buNone/>
            </a:pPr>
            <a:r>
              <a:rPr b="0" i="0" lang="es-MX" sz="8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“</a:t>
            </a:r>
            <a:r>
              <a:rPr b="1" i="0" lang="es-MX" sz="8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VGD LEARN</a:t>
            </a:r>
            <a:r>
              <a:rPr b="0" i="0" lang="es-MX" sz="8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”</a:t>
            </a:r>
            <a:endParaRPr b="0" i="0" sz="8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s-MX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PRESENTACIÓN CAPSTONE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ransition spd="slow">
    <p:wipe dir="l"/>
  </p:transition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90" name="Google Shape;90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91" name="Google Shape;91;p2"/>
          <p:cNvSpPr/>
          <p:nvPr/>
        </p:nvSpPr>
        <p:spPr>
          <a:xfrm>
            <a:off x="4085626" y="1584994"/>
            <a:ext cx="7633494" cy="1359548"/>
          </a:xfrm>
          <a:prstGeom prst="roundRect">
            <a:avLst>
              <a:gd fmla="val 10000" name="adj"/>
            </a:avLst>
          </a:prstGeom>
          <a:gradFill>
            <a:gsLst>
              <a:gs pos="0">
                <a:srgbClr val="90BBE3"/>
              </a:gs>
              <a:gs pos="100000">
                <a:srgbClr val="397BB7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  <a:effectLst>
            <a:outerShdw blurRad="57150" rotWithShape="0" algn="ctr" dir="5400000" dist="19050">
              <a:srgbClr val="000000">
                <a:alpha val="6196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" name="Google Shape;92;p2"/>
          <p:cNvSpPr txBox="1"/>
          <p:nvPr/>
        </p:nvSpPr>
        <p:spPr>
          <a:xfrm>
            <a:off x="5748279" y="1584994"/>
            <a:ext cx="5970900" cy="1359600"/>
          </a:xfrm>
          <a:prstGeom prst="rect">
            <a:avLst/>
          </a:prstGeom>
          <a:noFill/>
          <a:ln>
            <a:noFill/>
          </a:ln>
        </p:spPr>
        <p:txBody>
          <a:bodyPr anchorCtr="0" anchor="t" bIns="99050" lIns="99050" spcFirstLastPara="1" rIns="99050" wrap="square" tIns="9905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600"/>
              <a:buFont typeface="Calibri"/>
              <a:buNone/>
            </a:pPr>
            <a:r>
              <a:rPr b="0" i="0" lang="es-MX" sz="2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Diego Allende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28600" lvl="1" marL="228600" marR="0" rtl="0" algn="l">
              <a:lnSpc>
                <a:spcPct val="90000"/>
              </a:lnSpc>
              <a:spcBef>
                <a:spcPts val="91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Char char="•"/>
            </a:pPr>
            <a:r>
              <a:rPr b="0" i="0" lang="es-MX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Programador Backend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28600" lvl="1" marL="228600" marR="0" rtl="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Char char="•"/>
            </a:pPr>
            <a:r>
              <a:rPr b="0" i="0" lang="es-MX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Crear y mantener APIs RESTful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" name="Google Shape;93;p2"/>
          <p:cNvSpPr/>
          <p:nvPr/>
        </p:nvSpPr>
        <p:spPr>
          <a:xfrm>
            <a:off x="4221580" y="1720948"/>
            <a:ext cx="1526698" cy="1087638"/>
          </a:xfrm>
          <a:prstGeom prst="roundRect">
            <a:avLst>
              <a:gd fmla="val 10000" name="adj"/>
            </a:avLst>
          </a:prstGeom>
          <a:solidFill>
            <a:srgbClr val="C3D4EB"/>
          </a:solidFill>
          <a:ln>
            <a:noFill/>
          </a:ln>
          <a:effectLst>
            <a:outerShdw blurRad="57150" rotWithShape="0" algn="ctr" dir="5400000" dist="19050">
              <a:srgbClr val="000000">
                <a:alpha val="6196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" name="Google Shape;94;p2"/>
          <p:cNvSpPr/>
          <p:nvPr/>
        </p:nvSpPr>
        <p:spPr>
          <a:xfrm>
            <a:off x="4085626" y="3080496"/>
            <a:ext cx="7633494" cy="1359548"/>
          </a:xfrm>
          <a:prstGeom prst="roundRect">
            <a:avLst>
              <a:gd fmla="val 10000" name="adj"/>
            </a:avLst>
          </a:prstGeom>
          <a:gradFill>
            <a:gsLst>
              <a:gs pos="0">
                <a:srgbClr val="90BBE3"/>
              </a:gs>
              <a:gs pos="100000">
                <a:srgbClr val="397BB7"/>
              </a:gs>
            </a:gsLst>
            <a:lin ang="5400012" scaled="0"/>
          </a:gradFill>
          <a:ln>
            <a:noFill/>
          </a:ln>
          <a:effectLst>
            <a:outerShdw blurRad="57150" rotWithShape="0" algn="ctr" dir="5400000" dist="19050">
              <a:srgbClr val="000000">
                <a:alpha val="6196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" name="Google Shape;95;p2"/>
          <p:cNvSpPr txBox="1"/>
          <p:nvPr/>
        </p:nvSpPr>
        <p:spPr>
          <a:xfrm>
            <a:off x="5748279" y="3080496"/>
            <a:ext cx="5970840" cy="1359548"/>
          </a:xfrm>
          <a:prstGeom prst="rect">
            <a:avLst/>
          </a:prstGeom>
          <a:noFill/>
          <a:ln>
            <a:noFill/>
          </a:ln>
        </p:spPr>
        <p:txBody>
          <a:bodyPr anchorCtr="0" anchor="t" bIns="99050" lIns="99050" spcFirstLastPara="1" rIns="99050" wrap="square" tIns="9905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600"/>
              <a:buFont typeface="Calibri"/>
              <a:buNone/>
            </a:pPr>
            <a:r>
              <a:rPr b="0" i="0" lang="es-MX" sz="2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Victor Ayala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28600" lvl="1" marL="228600" marR="0" rtl="0" algn="l">
              <a:lnSpc>
                <a:spcPct val="90000"/>
              </a:lnSpc>
              <a:spcBef>
                <a:spcPts val="91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Char char="•"/>
            </a:pPr>
            <a:r>
              <a:rPr b="0" i="0" lang="es-MX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Product Owner y Programador Frontend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28600" lvl="1" marL="228600" marR="0" rtl="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Char char="•"/>
            </a:pPr>
            <a:r>
              <a:rPr b="0" i="0" lang="es-MX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Líder y desarrollador de interfaces.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" name="Google Shape;96;p2"/>
          <p:cNvSpPr/>
          <p:nvPr/>
        </p:nvSpPr>
        <p:spPr>
          <a:xfrm>
            <a:off x="4221580" y="3216451"/>
            <a:ext cx="1526698" cy="1087638"/>
          </a:xfrm>
          <a:prstGeom prst="roundRect">
            <a:avLst>
              <a:gd fmla="val 10000" name="adj"/>
            </a:avLst>
          </a:prstGeom>
          <a:solidFill>
            <a:srgbClr val="C3D4EB"/>
          </a:solidFill>
          <a:ln>
            <a:noFill/>
          </a:ln>
          <a:effectLst>
            <a:outerShdw blurRad="57150" rotWithShape="0" algn="ctr" dir="5400000" dist="19050">
              <a:srgbClr val="000000">
                <a:alpha val="6196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" name="Google Shape;97;p2"/>
          <p:cNvSpPr/>
          <p:nvPr/>
        </p:nvSpPr>
        <p:spPr>
          <a:xfrm>
            <a:off x="4085626" y="4575999"/>
            <a:ext cx="7633494" cy="1359548"/>
          </a:xfrm>
          <a:prstGeom prst="roundRect">
            <a:avLst>
              <a:gd fmla="val 10000" name="adj"/>
            </a:avLst>
          </a:prstGeom>
          <a:gradFill>
            <a:gsLst>
              <a:gs pos="0">
                <a:srgbClr val="90BBE3"/>
              </a:gs>
              <a:gs pos="100000">
                <a:srgbClr val="397BB7"/>
              </a:gs>
            </a:gsLst>
            <a:lin ang="5400012" scaled="0"/>
          </a:gradFill>
          <a:ln>
            <a:noFill/>
          </a:ln>
          <a:effectLst>
            <a:outerShdw blurRad="57150" rotWithShape="0" algn="ctr" dir="5400000" dist="19050">
              <a:srgbClr val="000000">
                <a:alpha val="6196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" name="Google Shape;98;p2"/>
          <p:cNvSpPr txBox="1"/>
          <p:nvPr/>
        </p:nvSpPr>
        <p:spPr>
          <a:xfrm>
            <a:off x="5748279" y="4575999"/>
            <a:ext cx="5970840" cy="1359548"/>
          </a:xfrm>
          <a:prstGeom prst="rect">
            <a:avLst/>
          </a:prstGeom>
          <a:noFill/>
          <a:ln>
            <a:noFill/>
          </a:ln>
        </p:spPr>
        <p:txBody>
          <a:bodyPr anchorCtr="0" anchor="t" bIns="99050" lIns="99050" spcFirstLastPara="1" rIns="99050" wrap="square" tIns="9905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600"/>
              <a:buFont typeface="Calibri"/>
              <a:buNone/>
            </a:pPr>
            <a:r>
              <a:rPr b="0" i="0" lang="es-MX" sz="2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Greisy Garcia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28600" lvl="1" marL="228600" marR="0" rtl="0" algn="l">
              <a:lnSpc>
                <a:spcPct val="90000"/>
              </a:lnSpc>
              <a:spcBef>
                <a:spcPts val="91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Char char="•"/>
            </a:pPr>
            <a:r>
              <a:rPr b="0" i="0" lang="es-MX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Scrum Master - QA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28600" lvl="1" marL="228600" marR="0" rtl="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Char char="•"/>
            </a:pPr>
            <a:r>
              <a:rPr b="0" i="0" lang="es-MX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Planificación sprints y retrospectivas.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2"/>
          <p:cNvSpPr/>
          <p:nvPr/>
        </p:nvSpPr>
        <p:spPr>
          <a:xfrm>
            <a:off x="4221580" y="4711954"/>
            <a:ext cx="1526698" cy="1087638"/>
          </a:xfrm>
          <a:prstGeom prst="roundRect">
            <a:avLst>
              <a:gd fmla="val 10000" name="adj"/>
            </a:avLst>
          </a:prstGeom>
          <a:solidFill>
            <a:srgbClr val="C3D4EB"/>
          </a:solidFill>
          <a:ln>
            <a:noFill/>
          </a:ln>
          <a:effectLst>
            <a:outerShdw blurRad="57150" rotWithShape="0" algn="ctr" dir="5400000" dist="19050">
              <a:srgbClr val="000000">
                <a:alpha val="6196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" name="Google Shape;100;p2"/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s-MX" sz="1800" u="none" cap="none" strike="noStrike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PROYECTO VGD LEARN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" name="Google Shape;101;p2"/>
          <p:cNvSpPr txBox="1"/>
          <p:nvPr/>
        </p:nvSpPr>
        <p:spPr>
          <a:xfrm>
            <a:off x="238327" y="3058616"/>
            <a:ext cx="3608961" cy="120032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0" i="0" lang="es-MX" sz="3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INTEGRANTES DEL PROYECTO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02" name="Google Shape;102;p2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cap="flat" cmpd="sng" w="15875">
            <a:solidFill>
              <a:srgbClr val="F5F7FC"/>
            </a:solidFill>
            <a:prstDash val="solid"/>
            <a:miter lim="800000"/>
            <a:headEnd len="sm" w="sm" type="none"/>
            <a:tailEnd len="sm" w="sm" type="none"/>
          </a:ln>
        </p:spPr>
      </p:cxnSp>
    </p:spTree>
  </p:cSld>
  <p:clrMapOvr>
    <a:masterClrMapping/>
  </p:clrMapOvr>
  <p:transition spd="slow">
    <p:wipe dir="l"/>
  </p:transition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107" name="Google Shape;107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08" name="Google Shape;108;p3"/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s-MX" sz="1800" u="none" cap="none" strike="noStrike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PROYECTO VGD LEARN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9" name="Google Shape;109;p3"/>
          <p:cNvSpPr txBox="1"/>
          <p:nvPr/>
        </p:nvSpPr>
        <p:spPr>
          <a:xfrm>
            <a:off x="0" y="1130849"/>
            <a:ext cx="12191999" cy="6463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0" i="0" lang="es-MX" sz="3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DESCRIPCIÓN DEL PROYECTO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10" name="Google Shape;110;p3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cap="flat" cmpd="sng" w="15875">
            <a:solidFill>
              <a:srgbClr val="F5F7FC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111" name="Google Shape;111;p3"/>
          <p:cNvSpPr/>
          <p:nvPr/>
        </p:nvSpPr>
        <p:spPr>
          <a:xfrm>
            <a:off x="714909" y="2169769"/>
            <a:ext cx="4348705" cy="4092601"/>
          </a:xfrm>
          <a:prstGeom prst="roundRect">
            <a:avLst>
              <a:gd fmla="val 10901" name="adj"/>
            </a:avLst>
          </a:prstGeom>
          <a:solidFill>
            <a:schemeClr val="lt1"/>
          </a:solidFill>
          <a:ln cap="flat" cmpd="sng" w="19050">
            <a:solidFill>
              <a:schemeClr val="accent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0" i="0" lang="es-MX" sz="2800" u="sng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Problema o dolor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sng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s-MX" sz="1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Los estudiantes cuentan con escasos recursos de aprendizaje, </a:t>
            </a:r>
            <a:r>
              <a:rPr b="1" i="0" lang="es-MX" sz="1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no cuentan con una herramienta unificada que les permita organizar su estudio, practicar de forma personalizada y medir su progreso de manera clara</a:t>
            </a:r>
            <a:r>
              <a:rPr b="0" i="0" lang="es-MX" sz="1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. Esto hace que el aprendizaje sea desordenado y poco efectivo, y que la tecnología educativa no se aproveche al máximo.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sng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" name="Google Shape;112;p3"/>
          <p:cNvSpPr/>
          <p:nvPr/>
        </p:nvSpPr>
        <p:spPr>
          <a:xfrm>
            <a:off x="6912079" y="2177325"/>
            <a:ext cx="4348705" cy="4092601"/>
          </a:xfrm>
          <a:prstGeom prst="roundRect">
            <a:avLst>
              <a:gd fmla="val 10901" name="adj"/>
            </a:avLst>
          </a:prstGeom>
          <a:solidFill>
            <a:schemeClr val="lt1"/>
          </a:solidFill>
          <a:ln cap="flat" cmpd="sng" w="19050">
            <a:solidFill>
              <a:schemeClr val="accent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0" i="0" lang="es-MX" sz="2800" u="sng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Propuesta de solución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sng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s-MX" sz="1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Una herramienta que ayude a los estudiantes a </a:t>
            </a:r>
            <a:r>
              <a:rPr b="1" i="0" lang="es-MX" sz="1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organizar sus materiales en módulos temáticos, haciendo que el estudio sea más ordenado</a:t>
            </a:r>
            <a:r>
              <a:rPr b="0" i="0" lang="es-MX" sz="1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y personalizado usando inteligencia artificial, y el contenido que ellos subirán. También se mostrarán gráficas con los resultados para ver qué temas dominan y cuáles necesitan reforzar.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p3"/>
          <p:cNvSpPr/>
          <p:nvPr/>
        </p:nvSpPr>
        <p:spPr>
          <a:xfrm>
            <a:off x="5456903" y="3736258"/>
            <a:ext cx="1140542" cy="757084"/>
          </a:xfrm>
          <a:prstGeom prst="rightArrow">
            <a:avLst>
              <a:gd fmla="val 50000" name="adj1"/>
              <a:gd fmla="val 50000" name="adj2"/>
            </a:avLst>
          </a:prstGeom>
          <a:solidFill>
            <a:schemeClr val="accent5"/>
          </a:solidFill>
          <a:ln cap="flat" cmpd="sng" w="12700">
            <a:solidFill>
              <a:srgbClr val="1C3052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ransition spd="slow">
    <p:wipe dir="l"/>
  </p:transition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118" name="Google Shape;118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19" name="Google Shape;119;p4"/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s-MX" sz="1800" u="none" cap="none" strike="noStrike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PROYECTO VGD LEARN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" name="Google Shape;120;p4"/>
          <p:cNvSpPr txBox="1"/>
          <p:nvPr/>
        </p:nvSpPr>
        <p:spPr>
          <a:xfrm>
            <a:off x="0" y="957329"/>
            <a:ext cx="121920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0" i="0" lang="es-MX" sz="3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OBJETIVO GENERAL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21" name="Google Shape;121;p4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cap="flat" cmpd="sng" w="15875">
            <a:solidFill>
              <a:srgbClr val="F5F7FC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122" name="Google Shape;122;p4"/>
          <p:cNvSpPr txBox="1"/>
          <p:nvPr/>
        </p:nvSpPr>
        <p:spPr>
          <a:xfrm>
            <a:off x="-24" y="3063734"/>
            <a:ext cx="121920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0" i="0" lang="es-MX" sz="3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OBJETIVOS ESPECÍFICOS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" name="Google Shape;123;p4"/>
          <p:cNvSpPr/>
          <p:nvPr/>
        </p:nvSpPr>
        <p:spPr>
          <a:xfrm>
            <a:off x="614525" y="1704775"/>
            <a:ext cx="10962900" cy="1171200"/>
          </a:xfrm>
          <a:prstGeom prst="roundRect">
            <a:avLst>
              <a:gd fmla="val 16667" name="adj"/>
            </a:avLst>
          </a:prstGeom>
          <a:solidFill>
            <a:schemeClr val="lt1"/>
          </a:solidFill>
          <a:ln cap="flat" cmpd="sng" w="19050">
            <a:solidFill>
              <a:schemeClr val="accent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i="0" lang="es-MX" sz="1600" u="none" cap="none" strike="noStrike">
                <a:solidFill>
                  <a:schemeClr val="dk1"/>
                </a:solidFill>
              </a:rPr>
              <a:t>Desarrollar una plataforma digital educativa que integre inteligencia artificial y procesamiento de lenguaje natural, permitiendo a los estudiantes organizar sus materiales de estudio, generar quizzes personalizados y obtener métricas claras de su progreso académico.</a:t>
            </a:r>
            <a:endParaRPr i="0" sz="1800" u="none" cap="none" strike="noStrike">
              <a:solidFill>
                <a:schemeClr val="dk1"/>
              </a:solidFill>
            </a:endParaRPr>
          </a:p>
        </p:txBody>
      </p:sp>
      <p:sp>
        <p:nvSpPr>
          <p:cNvPr id="124" name="Google Shape;124;p4"/>
          <p:cNvSpPr/>
          <p:nvPr/>
        </p:nvSpPr>
        <p:spPr>
          <a:xfrm>
            <a:off x="614525" y="3710225"/>
            <a:ext cx="10962900" cy="2841000"/>
          </a:xfrm>
          <a:prstGeom prst="roundRect">
            <a:avLst>
              <a:gd fmla="val 16667" name="adj"/>
            </a:avLst>
          </a:prstGeom>
          <a:solidFill>
            <a:schemeClr val="lt1"/>
          </a:solidFill>
          <a:ln cap="flat" cmpd="sng" w="19050">
            <a:solidFill>
              <a:schemeClr val="accent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330200" lvl="0" marL="457200" rtl="0" algn="just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</a:pPr>
            <a:r>
              <a:rPr lang="es-MX" sz="1600">
                <a:solidFill>
                  <a:schemeClr val="dk1"/>
                </a:solidFill>
              </a:rPr>
              <a:t>Organizar materiales de estudio de forma simple y accesible.</a:t>
            </a:r>
            <a:endParaRPr sz="1600">
              <a:solidFill>
                <a:schemeClr val="dk1"/>
              </a:solidFill>
            </a:endParaRPr>
          </a:p>
          <a:p>
            <a:pPr indent="-330200" lvl="0" marL="457200" rtl="0" algn="just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</a:pPr>
            <a:r>
              <a:rPr lang="es-MX" sz="1600">
                <a:solidFill>
                  <a:schemeClr val="dk1"/>
                </a:solidFill>
              </a:rPr>
              <a:t>Generar evaluaciones según el nivel del estudiante.</a:t>
            </a:r>
            <a:endParaRPr sz="1600">
              <a:solidFill>
                <a:schemeClr val="dk1"/>
              </a:solidFill>
            </a:endParaRPr>
          </a:p>
          <a:p>
            <a:pPr indent="-330200" lvl="0" marL="457200" rtl="0" algn="just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</a:pPr>
            <a:r>
              <a:rPr lang="es-MX" sz="1600">
                <a:solidFill>
                  <a:schemeClr val="dk1"/>
                </a:solidFill>
              </a:rPr>
              <a:t>Estructurar módulos automáticamente a partir de la documentación.</a:t>
            </a:r>
            <a:endParaRPr sz="1600">
              <a:solidFill>
                <a:schemeClr val="dk1"/>
              </a:solidFill>
            </a:endParaRPr>
          </a:p>
          <a:p>
            <a:pPr indent="-330200" lvl="0" marL="457200" rtl="0" algn="just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600"/>
              <a:buChar char="●"/>
            </a:pPr>
            <a:r>
              <a:rPr lang="es-MX" sz="1600">
                <a:solidFill>
                  <a:schemeClr val="dk1"/>
                </a:solidFill>
              </a:rPr>
              <a:t>Mantener los estudios ordenados y libres de distracciones.</a:t>
            </a:r>
            <a:endParaRPr sz="1600">
              <a:solidFill>
                <a:schemeClr val="dk1"/>
              </a:solidFill>
            </a:endParaRPr>
          </a:p>
        </p:txBody>
      </p:sp>
    </p:spTree>
  </p:cSld>
  <p:clrMapOvr>
    <a:masterClrMapping/>
  </p:clrMapOvr>
  <p:transition spd="slow">
    <p:wipe dir="l"/>
  </p:transition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129" name="Google Shape;129;g38e2c4947a4_0_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g38e2c4947a4_0_0"/>
          <p:cNvSpPr txBox="1"/>
          <p:nvPr/>
        </p:nvSpPr>
        <p:spPr>
          <a:xfrm>
            <a:off x="136188" y="368928"/>
            <a:ext cx="12192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s-MX" sz="1800" u="none" cap="none" strike="noStrike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PROYECTO VGD LEARN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" name="Google Shape;131;g38e2c4947a4_0_0"/>
          <p:cNvSpPr txBox="1"/>
          <p:nvPr/>
        </p:nvSpPr>
        <p:spPr>
          <a:xfrm>
            <a:off x="1922400" y="3818525"/>
            <a:ext cx="8619600" cy="646500"/>
          </a:xfrm>
          <a:prstGeom prst="rect">
            <a:avLst/>
          </a:prstGeom>
          <a:noFill/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0" i="0" lang="es-MX" sz="3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Limitaciones del proyecto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32" name="Google Shape;132;g38e2c4947a4_0_0"/>
          <p:cNvCxnSpPr/>
          <p:nvPr/>
        </p:nvCxnSpPr>
        <p:spPr>
          <a:xfrm>
            <a:off x="0" y="758027"/>
            <a:ext cx="4085700" cy="0"/>
          </a:xfrm>
          <a:prstGeom prst="straightConnector1">
            <a:avLst/>
          </a:prstGeom>
          <a:noFill/>
          <a:ln cap="flat" cmpd="sng" w="15875">
            <a:solidFill>
              <a:srgbClr val="F5F7FC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133" name="Google Shape;133;g38e2c4947a4_0_0"/>
          <p:cNvSpPr/>
          <p:nvPr/>
        </p:nvSpPr>
        <p:spPr>
          <a:xfrm>
            <a:off x="615500" y="4465025"/>
            <a:ext cx="10779900" cy="2250600"/>
          </a:xfrm>
          <a:prstGeom prst="roundRect">
            <a:avLst>
              <a:gd fmla="val 10901" name="adj"/>
            </a:avLst>
          </a:prstGeom>
          <a:solidFill>
            <a:schemeClr val="lt1"/>
          </a:solidFill>
          <a:ln cap="flat" cmpd="sng" w="19050">
            <a:solidFill>
              <a:schemeClr val="accent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32385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●"/>
            </a:pPr>
            <a:r>
              <a:rPr lang="es-MX" sz="1500">
                <a:solidFill>
                  <a:schemeClr val="dk1"/>
                </a:solidFill>
                <a:highlight>
                  <a:schemeClr val="lt1"/>
                </a:highlight>
              </a:rPr>
              <a:t>Las actividades generadas por la plataforma (quizzes, flashcards, autocompletado) se limitan a contenido textual, sin incluir componentes gráficos ni multimedia.</a:t>
            </a:r>
            <a:endParaRPr sz="1500">
              <a:solidFill>
                <a:schemeClr val="dk1"/>
              </a:solidFill>
              <a:highlight>
                <a:schemeClr val="lt1"/>
              </a:highlight>
            </a:endParaRPr>
          </a:p>
          <a:p>
            <a:pPr indent="-32385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Char char="●"/>
            </a:pPr>
            <a:r>
              <a:rPr lang="es-MX" sz="1500">
                <a:solidFill>
                  <a:schemeClr val="dk1"/>
                </a:solidFill>
                <a:highlight>
                  <a:schemeClr val="lt1"/>
                </a:highlight>
              </a:rPr>
              <a:t>La personalización del contenido no ocurre en tiempo real; la IA trabaja con un análisis estático del material previamente cargado</a:t>
            </a:r>
            <a:endParaRPr sz="1500">
              <a:solidFill>
                <a:schemeClr val="dk1"/>
              </a:solidFill>
              <a:highlight>
                <a:schemeClr val="lt1"/>
              </a:highlight>
            </a:endParaRPr>
          </a:p>
          <a:p>
            <a:pPr indent="-32385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Char char="●"/>
            </a:pPr>
            <a:r>
              <a:rPr lang="es-MX" sz="1500">
                <a:solidFill>
                  <a:schemeClr val="dk1"/>
                </a:solidFill>
                <a:highlight>
                  <a:schemeClr val="lt1"/>
                </a:highlight>
              </a:rPr>
              <a:t>El alcance del proyecto se centra exclusivamente en aprendizaje individual autónomo y no contempla dinámicas colaborativas.</a:t>
            </a:r>
            <a:endParaRPr sz="1500">
              <a:solidFill>
                <a:schemeClr val="dk1"/>
              </a:solidFill>
              <a:highlight>
                <a:schemeClr val="lt1"/>
              </a:highlight>
            </a:endParaRPr>
          </a:p>
          <a:p>
            <a:pPr indent="-32385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Char char="●"/>
            </a:pPr>
            <a:r>
              <a:rPr lang="es-MX" sz="1500">
                <a:solidFill>
                  <a:schemeClr val="dk1"/>
                </a:solidFill>
                <a:highlight>
                  <a:schemeClr val="lt1"/>
                </a:highlight>
              </a:rPr>
              <a:t>La versión inicial está optimizada para entorno web de escritorio; no se garantiza compatibilidad plena con dispositivos móviles.</a:t>
            </a:r>
            <a:endParaRPr sz="1500">
              <a:solidFill>
                <a:schemeClr val="dk1"/>
              </a:solidFill>
              <a:highlight>
                <a:schemeClr val="lt1"/>
              </a:highlight>
            </a:endParaRPr>
          </a:p>
        </p:txBody>
      </p:sp>
      <p:pic>
        <p:nvPicPr>
          <p:cNvPr descr="EscuelaIT Duoc UC - Escuela de Informática y Telecomunicaciones Duoc UC - Duoc  UC | LinkedIn" id="134" name="Google Shape;134;g38e2c4947a4_0_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35" name="Google Shape;135;g38e2c4947a4_0_0"/>
          <p:cNvSpPr txBox="1"/>
          <p:nvPr/>
        </p:nvSpPr>
        <p:spPr>
          <a:xfrm>
            <a:off x="1695650" y="720625"/>
            <a:ext cx="8619600" cy="646500"/>
          </a:xfrm>
          <a:prstGeom prst="rect">
            <a:avLst/>
          </a:prstGeom>
          <a:noFill/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0" i="0" lang="es-MX" sz="3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Alcance del proyecto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6" name="Google Shape;136;g38e2c4947a4_0_0"/>
          <p:cNvSpPr/>
          <p:nvPr/>
        </p:nvSpPr>
        <p:spPr>
          <a:xfrm>
            <a:off x="735200" y="1419702"/>
            <a:ext cx="10540500" cy="2250600"/>
          </a:xfrm>
          <a:prstGeom prst="roundRect">
            <a:avLst>
              <a:gd fmla="val 10901" name="adj"/>
            </a:avLst>
          </a:prstGeom>
          <a:solidFill>
            <a:schemeClr val="lt1"/>
          </a:solidFill>
          <a:ln cap="flat" cmpd="sng" w="19050">
            <a:solidFill>
              <a:schemeClr val="accent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MX" sz="1500">
                <a:solidFill>
                  <a:schemeClr val="dk1"/>
                </a:solidFill>
              </a:rPr>
              <a:t>El proyecto VGD Learn tendrá como alcance el desarrollo de una plataforma educativa digital que integre inteligencia artificial y procesamiento de lenguaje natural (NLP) para apoyar el aprendizaje autónomo. La plataforma permitirá:</a:t>
            </a:r>
            <a:endParaRPr sz="1500">
              <a:solidFill>
                <a:schemeClr val="dk1"/>
              </a:solidFill>
            </a:endParaRPr>
          </a:p>
          <a:p>
            <a:pPr indent="-3238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Char char="●"/>
            </a:pPr>
            <a:r>
              <a:rPr lang="es-MX" sz="1500">
                <a:solidFill>
                  <a:schemeClr val="dk1"/>
                </a:solidFill>
              </a:rPr>
              <a:t>Subir y organizar materiales de estudio.</a:t>
            </a:r>
            <a:endParaRPr sz="1500">
              <a:solidFill>
                <a:schemeClr val="dk1"/>
              </a:solidFill>
            </a:endParaRPr>
          </a:p>
          <a:p>
            <a:pPr indent="-3238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Char char="●"/>
            </a:pPr>
            <a:r>
              <a:rPr lang="es-MX" sz="1500">
                <a:solidFill>
                  <a:schemeClr val="dk1"/>
                </a:solidFill>
              </a:rPr>
              <a:t>Generar automáticamente </a:t>
            </a:r>
            <a:r>
              <a:rPr b="1" lang="es-MX" sz="1500">
                <a:solidFill>
                  <a:schemeClr val="dk1"/>
                </a:solidFill>
              </a:rPr>
              <a:t>quizzes</a:t>
            </a:r>
            <a:r>
              <a:rPr lang="es-MX" sz="1500">
                <a:solidFill>
                  <a:schemeClr val="dk1"/>
                </a:solidFill>
              </a:rPr>
              <a:t>, </a:t>
            </a:r>
            <a:r>
              <a:rPr b="1" lang="es-MX" sz="1500">
                <a:solidFill>
                  <a:schemeClr val="dk1"/>
                </a:solidFill>
              </a:rPr>
              <a:t>flashcards</a:t>
            </a:r>
            <a:r>
              <a:rPr lang="es-MX" sz="1500">
                <a:solidFill>
                  <a:schemeClr val="dk1"/>
                </a:solidFill>
              </a:rPr>
              <a:t>, </a:t>
            </a:r>
            <a:r>
              <a:rPr b="1" lang="es-MX" sz="1500">
                <a:solidFill>
                  <a:schemeClr val="dk1"/>
                </a:solidFill>
              </a:rPr>
              <a:t>resúmenes</a:t>
            </a:r>
            <a:r>
              <a:rPr lang="es-MX" sz="1500">
                <a:solidFill>
                  <a:schemeClr val="dk1"/>
                </a:solidFill>
              </a:rPr>
              <a:t> y actividades interactivas.</a:t>
            </a:r>
            <a:endParaRPr sz="1500">
              <a:solidFill>
                <a:schemeClr val="dk1"/>
              </a:solidFill>
            </a:endParaRPr>
          </a:p>
          <a:p>
            <a:pPr indent="-3238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Char char="●"/>
            </a:pPr>
            <a:r>
              <a:rPr lang="es-MX" sz="1500">
                <a:solidFill>
                  <a:schemeClr val="dk1"/>
                </a:solidFill>
              </a:rPr>
              <a:t>Ofrecer funciones de </a:t>
            </a:r>
            <a:r>
              <a:rPr b="1" lang="es-MX" sz="1500">
                <a:solidFill>
                  <a:schemeClr val="dk1"/>
                </a:solidFill>
              </a:rPr>
              <a:t>autocompletado de palabras</a:t>
            </a:r>
            <a:r>
              <a:rPr lang="es-MX" sz="1500">
                <a:solidFill>
                  <a:schemeClr val="dk1"/>
                </a:solidFill>
              </a:rPr>
              <a:t> para reforzar vocabulario y comprensión.</a:t>
            </a:r>
            <a:endParaRPr sz="1500">
              <a:solidFill>
                <a:schemeClr val="dk1"/>
              </a:solidFill>
            </a:endParaRPr>
          </a:p>
          <a:p>
            <a:pPr indent="-3238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Char char="●"/>
            </a:pPr>
            <a:r>
              <a:rPr lang="es-MX" sz="1500">
                <a:solidFill>
                  <a:schemeClr val="dk1"/>
                </a:solidFill>
              </a:rPr>
              <a:t>Adaptar las actividades al nivel y necesidades del estudiante.</a:t>
            </a:r>
            <a:endParaRPr sz="1500">
              <a:solidFill>
                <a:schemeClr val="dk1"/>
              </a:solidFill>
            </a:endParaRPr>
          </a:p>
          <a:p>
            <a:pPr indent="-3238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Char char="●"/>
            </a:pPr>
            <a:r>
              <a:rPr lang="es-MX" sz="1500">
                <a:solidFill>
                  <a:schemeClr val="dk1"/>
                </a:solidFill>
              </a:rPr>
              <a:t>Proporcionar métricas claras sobre el progreso académico.</a:t>
            </a:r>
            <a:endParaRPr sz="1500">
              <a:solidFill>
                <a:schemeClr val="dk1"/>
              </a:solidFill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sng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141" name="Google Shape;141;g37c31d335ee_0_6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g37c31d335ee_0_63"/>
          <p:cNvSpPr txBox="1"/>
          <p:nvPr/>
        </p:nvSpPr>
        <p:spPr>
          <a:xfrm>
            <a:off x="136188" y="368928"/>
            <a:ext cx="12192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s-MX" sz="1800" u="none" cap="none" strike="noStrike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PROYECTO VGD LEARN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3" name="Google Shape;143;g37c31d335ee_0_63"/>
          <p:cNvSpPr txBox="1"/>
          <p:nvPr/>
        </p:nvSpPr>
        <p:spPr>
          <a:xfrm>
            <a:off x="0" y="1017055"/>
            <a:ext cx="121920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0" i="0" lang="es-MX" sz="3600" u="none" cap="none" strike="noStrike">
                <a:solidFill>
                  <a:schemeClr val="dk1"/>
                </a:solidFill>
                <a:uFill>
                  <a:noFill/>
                </a:uFill>
                <a:latin typeface="Calibri"/>
                <a:ea typeface="Calibri"/>
                <a:cs typeface="Calibri"/>
                <a:sym typeface="Calibri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Metodología de trabajo para el desarrollo del proyecto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44" name="Google Shape;144;g37c31d335ee_0_63"/>
          <p:cNvCxnSpPr/>
          <p:nvPr/>
        </p:nvCxnSpPr>
        <p:spPr>
          <a:xfrm>
            <a:off x="0" y="758027"/>
            <a:ext cx="4085700" cy="0"/>
          </a:xfrm>
          <a:prstGeom prst="straightConnector1">
            <a:avLst/>
          </a:prstGeom>
          <a:noFill/>
          <a:ln cap="flat" cmpd="sng" w="15875">
            <a:solidFill>
              <a:srgbClr val="F5F7FC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145" name="Google Shape;145;g37c31d335ee_0_63"/>
          <p:cNvSpPr/>
          <p:nvPr/>
        </p:nvSpPr>
        <p:spPr>
          <a:xfrm>
            <a:off x="1159200" y="2110500"/>
            <a:ext cx="10146000" cy="3950700"/>
          </a:xfrm>
          <a:prstGeom prst="roundRect">
            <a:avLst>
              <a:gd fmla="val 10901" name="adj"/>
            </a:avLst>
          </a:prstGeom>
          <a:solidFill>
            <a:schemeClr val="lt1"/>
          </a:solidFill>
          <a:ln cap="flat" cmpd="sng" w="19050">
            <a:solidFill>
              <a:schemeClr val="accent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0" i="0" lang="es-MX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El desarrollo del proyecto </a:t>
            </a:r>
            <a:r>
              <a:rPr b="1" i="0" lang="es-MX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VGD Learn</a:t>
            </a:r>
            <a:r>
              <a:rPr b="0" i="0" lang="es-MX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se basa en la metodología ágil </a:t>
            </a:r>
            <a:r>
              <a:rPr b="1" i="0" lang="es-MX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SCRUM</a:t>
            </a:r>
            <a:r>
              <a:rPr b="0" i="0" lang="es-MX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, que permite trabajar de forma iterativa, colaborativa y con mejoras continuas en cada etapa.</a:t>
            </a:r>
            <a:endParaRPr b="0" i="0" sz="1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i="0" lang="es-MX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Cada </a:t>
            </a:r>
            <a:r>
              <a:rPr b="1" i="0" lang="es-MX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Sprint</a:t>
            </a:r>
            <a:r>
              <a:rPr b="0" i="0" lang="es-MX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tiene una duración de </a:t>
            </a:r>
            <a:r>
              <a:rPr b="1" i="0" lang="es-MX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tres semanas</a:t>
            </a:r>
            <a:r>
              <a:rPr b="0" i="0" lang="es-MX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, e incluye las siguientes instancias:</a:t>
            </a:r>
            <a:endParaRPr b="0" i="0" sz="1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30200" lvl="0" marL="457200" marR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●"/>
            </a:pPr>
            <a:r>
              <a:rPr b="1" i="0" lang="es-MX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Sprint Planning</a:t>
            </a:r>
            <a:r>
              <a:rPr b="1" lang="es-MX" sz="1600">
                <a:solidFill>
                  <a:schemeClr val="dk1"/>
                </a:solidFill>
              </a:rPr>
              <a:t>.</a:t>
            </a:r>
            <a:endParaRPr b="0" i="0" sz="1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302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●"/>
            </a:pPr>
            <a:r>
              <a:rPr b="1" i="0" lang="es-MX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Daily Meetings:</a:t>
            </a:r>
            <a:r>
              <a:rPr b="0" i="0" lang="es-MX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(</a:t>
            </a:r>
            <a:r>
              <a:rPr lang="es-MX" sz="1600">
                <a:solidFill>
                  <a:schemeClr val="dk1"/>
                </a:solidFill>
              </a:rPr>
              <a:t>2</a:t>
            </a:r>
            <a:r>
              <a:rPr b="0" i="0" lang="es-MX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veces por semana).</a:t>
            </a:r>
            <a:endParaRPr b="0" i="0" sz="1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302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●"/>
            </a:pPr>
            <a:r>
              <a:rPr b="1" i="0" lang="es-MX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Sprint Review:</a:t>
            </a:r>
            <a:r>
              <a:rPr b="0" i="0" lang="es-MX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presentación de avances funcionales.</a:t>
            </a:r>
            <a:endParaRPr b="0" i="0" sz="1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302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●"/>
            </a:pPr>
            <a:r>
              <a:rPr b="1" i="0" lang="es-MX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Sprint Retrospective:</a:t>
            </a:r>
            <a:r>
              <a:rPr b="0" i="0" lang="es-MX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análisis de mejoras en la dinámica de trabajo.</a:t>
            </a:r>
            <a:endParaRPr b="0" i="0" sz="1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i="0" lang="es-MX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El proceso se apoya además en herramientas de control como </a:t>
            </a:r>
            <a:r>
              <a:rPr b="1" i="0" lang="es-MX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GitHub</a:t>
            </a:r>
            <a:r>
              <a:rPr b="0" i="0" lang="es-MX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(versionado y repositorio de código), </a:t>
            </a:r>
            <a:r>
              <a:rPr b="1" i="0" lang="es-MX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Figma</a:t>
            </a:r>
            <a:r>
              <a:rPr b="0" i="0" lang="es-MX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(diseño visual),</a:t>
            </a:r>
            <a:endParaRPr b="0" i="0" sz="1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150" name="Google Shape;150;g38e2c4947a4_0_38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51" name="Google Shape;151;g38e2c4947a4_0_385"/>
          <p:cNvSpPr txBox="1"/>
          <p:nvPr/>
        </p:nvSpPr>
        <p:spPr>
          <a:xfrm>
            <a:off x="136188" y="368928"/>
            <a:ext cx="12192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s-MX" sz="1800" u="none" cap="none" strike="noStrike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PROYECTO VGD LEARN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2" name="Google Shape;152;g38e2c4947a4_0_385"/>
          <p:cNvSpPr txBox="1"/>
          <p:nvPr/>
        </p:nvSpPr>
        <p:spPr>
          <a:xfrm>
            <a:off x="0" y="777824"/>
            <a:ext cx="121920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</a:pPr>
            <a:r>
              <a:rPr b="0" i="0" lang="es-MX" sz="3600" u="none" cap="none" strike="noStrike">
                <a:solidFill>
                  <a:schemeClr val="dk1"/>
                </a:solidFill>
                <a:uFill>
                  <a:noFill/>
                </a:uFill>
                <a:latin typeface="Calibri"/>
                <a:ea typeface="Calibri"/>
                <a:cs typeface="Calibri"/>
                <a:sym typeface="Calibri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Metodología de trabajo para el desarrollo del proyecto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53" name="Google Shape;153;g38e2c4947a4_0_385"/>
          <p:cNvCxnSpPr/>
          <p:nvPr/>
        </p:nvCxnSpPr>
        <p:spPr>
          <a:xfrm>
            <a:off x="0" y="758027"/>
            <a:ext cx="4085700" cy="0"/>
          </a:xfrm>
          <a:prstGeom prst="straightConnector1">
            <a:avLst/>
          </a:prstGeom>
          <a:noFill/>
          <a:ln cap="flat" cmpd="sng" w="15875">
            <a:solidFill>
              <a:srgbClr val="F5F7FC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154" name="Google Shape;154;g38e2c4947a4_0_385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127975" y="1444124"/>
            <a:ext cx="7128707" cy="5128876"/>
          </a:xfrm>
          <a:prstGeom prst="rect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159" name="Google Shape;159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60" name="Google Shape;160;p8"/>
          <p:cNvSpPr txBox="1"/>
          <p:nvPr/>
        </p:nvSpPr>
        <p:spPr>
          <a:xfrm>
            <a:off x="136188" y="368928"/>
            <a:ext cx="12192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s-MX" sz="1800" u="none" cap="none" strike="noStrike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PROYECTO VGD LEARN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1" name="Google Shape;161;p8"/>
          <p:cNvSpPr txBox="1"/>
          <p:nvPr/>
        </p:nvSpPr>
        <p:spPr>
          <a:xfrm>
            <a:off x="533650" y="2470400"/>
            <a:ext cx="2852700" cy="17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0" i="0" lang="es-MX" sz="3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Arquitectura 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4572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0" i="0" lang="es-MX" sz="3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del 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45720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0" i="0" lang="es-MX" sz="3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software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62" name="Google Shape;162;p8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cap="flat" cmpd="sng" w="15875">
            <a:solidFill>
              <a:srgbClr val="F5F7FC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163" name="Google Shape;163;p8"/>
          <p:cNvSpPr/>
          <p:nvPr/>
        </p:nvSpPr>
        <p:spPr>
          <a:xfrm>
            <a:off x="6103050" y="2470400"/>
            <a:ext cx="720900" cy="2145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64" name="Google Shape;164;p8" title="lalal.drawio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464625" y="738225"/>
            <a:ext cx="6512351" cy="6056951"/>
          </a:xfrm>
          <a:prstGeom prst="rect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  <p:transition spd="slow">
    <p:wipe dir="l"/>
  </p:transition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169" name="Google Shape;169;g39d9aee7fe7_0_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70" name="Google Shape;170;g39d9aee7fe7_0_0"/>
          <p:cNvSpPr txBox="1"/>
          <p:nvPr/>
        </p:nvSpPr>
        <p:spPr>
          <a:xfrm>
            <a:off x="136188" y="368928"/>
            <a:ext cx="12192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s-MX" sz="1800" u="none" cap="none" strike="noStrike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PROYECTO VGD LEARN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1" name="Google Shape;171;g39d9aee7fe7_0_0"/>
          <p:cNvSpPr txBox="1"/>
          <p:nvPr/>
        </p:nvSpPr>
        <p:spPr>
          <a:xfrm>
            <a:off x="2410075" y="738225"/>
            <a:ext cx="6870300" cy="446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0" i="0" lang="es-MX" sz="23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Modelo de datos </a:t>
            </a:r>
            <a:endParaRPr b="0" i="0" sz="2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72" name="Google Shape;172;g39d9aee7fe7_0_0"/>
          <p:cNvCxnSpPr/>
          <p:nvPr/>
        </p:nvCxnSpPr>
        <p:spPr>
          <a:xfrm>
            <a:off x="0" y="758027"/>
            <a:ext cx="4085700" cy="0"/>
          </a:xfrm>
          <a:prstGeom prst="straightConnector1">
            <a:avLst/>
          </a:prstGeom>
          <a:noFill/>
          <a:ln cap="flat" cmpd="sng" w="15875">
            <a:solidFill>
              <a:srgbClr val="F5F7FC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173" name="Google Shape;173;g39d9aee7fe7_0_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86437" y="1435800"/>
            <a:ext cx="10117577" cy="4949075"/>
          </a:xfrm>
          <a:prstGeom prst="rect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178" name="Google Shape;178;g38e2c4947a4_0_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79" name="Google Shape;179;g38e2c4947a4_0_28"/>
          <p:cNvSpPr txBox="1"/>
          <p:nvPr/>
        </p:nvSpPr>
        <p:spPr>
          <a:xfrm>
            <a:off x="136188" y="368928"/>
            <a:ext cx="12192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s-MX" sz="1800" u="none" cap="none" strike="noStrike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PROYECTO VGD LEARN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g38e2c4947a4_0_28"/>
          <p:cNvSpPr txBox="1"/>
          <p:nvPr/>
        </p:nvSpPr>
        <p:spPr>
          <a:xfrm>
            <a:off x="2242975" y="909525"/>
            <a:ext cx="68703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0" i="0" lang="es-MX" sz="3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Tecnologías utilizadas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81" name="Google Shape;181;g38e2c4947a4_0_28"/>
          <p:cNvCxnSpPr/>
          <p:nvPr/>
        </p:nvCxnSpPr>
        <p:spPr>
          <a:xfrm>
            <a:off x="0" y="758027"/>
            <a:ext cx="4085700" cy="0"/>
          </a:xfrm>
          <a:prstGeom prst="straightConnector1">
            <a:avLst/>
          </a:prstGeom>
          <a:noFill/>
          <a:ln cap="flat" cmpd="sng" w="15875">
            <a:solidFill>
              <a:srgbClr val="F5F7FC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182" name="Google Shape;182;g38e2c4947a4_0_28"/>
          <p:cNvSpPr/>
          <p:nvPr/>
        </p:nvSpPr>
        <p:spPr>
          <a:xfrm>
            <a:off x="936420" y="1978550"/>
            <a:ext cx="10146000" cy="4092600"/>
          </a:xfrm>
          <a:prstGeom prst="roundRect">
            <a:avLst>
              <a:gd fmla="val 10901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55600" lvl="0" marL="457200" marR="0" rtl="0" algn="l">
              <a:lnSpc>
                <a:spcPct val="115833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●"/>
            </a:pPr>
            <a:r>
              <a:rPr b="0" i="0" lang="es-MX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Frontend</a:t>
            </a:r>
            <a:r>
              <a:rPr b="0" i="0" lang="es-MX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: React + Vite</a:t>
            </a:r>
            <a:endParaRPr b="0" i="0" sz="2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55600" lvl="0" marL="457200" marR="0" rtl="0" algn="l">
              <a:lnSpc>
                <a:spcPct val="115833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●"/>
            </a:pPr>
            <a:r>
              <a:rPr b="0" i="0" lang="es-MX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Backend: Java/Spring Boot/REST</a:t>
            </a:r>
            <a:endParaRPr b="0" i="0" sz="2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55600" lvl="0" marL="457200" marR="0" rtl="0" algn="l">
              <a:lnSpc>
                <a:spcPct val="115833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●"/>
            </a:pPr>
            <a:r>
              <a:rPr b="0" i="0" lang="es-MX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BD: PostgreSQL</a:t>
            </a:r>
            <a:endParaRPr b="0" i="0" sz="2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55600" lvl="0" marL="457200" marR="0" rtl="0" algn="l">
              <a:lnSpc>
                <a:spcPct val="115833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●"/>
            </a:pPr>
            <a:r>
              <a:rPr b="0" i="0" lang="es-MX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Infraestructura: GCP</a:t>
            </a:r>
            <a:endParaRPr b="0" i="0" sz="2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55600" lvl="0" marL="457200" marR="0" rtl="0" algn="l">
              <a:lnSpc>
                <a:spcPct val="115833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●"/>
            </a:pPr>
            <a:r>
              <a:rPr b="0" i="0" lang="es-MX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Testing y QA: Mockito</a:t>
            </a:r>
            <a:endParaRPr b="0" i="0" sz="2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55600" lvl="0" marL="457200" marR="0" rtl="0" algn="l">
              <a:lnSpc>
                <a:spcPct val="115833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●"/>
            </a:pPr>
            <a:r>
              <a:rPr b="0" i="0" lang="es-MX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Control de versiones: GIT + GitHub/Git Kraken</a:t>
            </a:r>
            <a:endParaRPr b="0" i="0" sz="2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55600" lvl="0" marL="457200" marR="0" rtl="0" algn="l">
              <a:lnSpc>
                <a:spcPct val="115833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●"/>
            </a:pPr>
            <a:r>
              <a:rPr b="0" i="0" lang="es-MX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OpenAI + Langchain</a:t>
            </a:r>
            <a:endParaRPr b="0" i="0" sz="2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55600" lvl="0" marL="457200" marR="0" rtl="0" algn="l">
              <a:lnSpc>
                <a:spcPct val="115833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●"/>
            </a:pPr>
            <a:r>
              <a:rPr lang="es-MX" sz="2000">
                <a:solidFill>
                  <a:schemeClr val="dk1"/>
                </a:solidFill>
              </a:rPr>
              <a:t>FIGMA</a:t>
            </a:r>
            <a:endParaRPr sz="2000">
              <a:solidFill>
                <a:schemeClr val="dk1"/>
              </a:solidFill>
            </a:endParaRPr>
          </a:p>
          <a:p>
            <a:pPr indent="-355600" lvl="0" marL="457200" marR="0" rtl="0" algn="l">
              <a:lnSpc>
                <a:spcPct val="115833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</a:pPr>
            <a:r>
              <a:rPr lang="es-MX" sz="2000">
                <a:solidFill>
                  <a:schemeClr val="dk1"/>
                </a:solidFill>
              </a:rPr>
              <a:t>Trello</a:t>
            </a:r>
            <a:endParaRPr sz="2000">
              <a:solidFill>
                <a:schemeClr val="dk1"/>
              </a:solidFill>
            </a:endParaRPr>
          </a:p>
        </p:txBody>
      </p:sp>
      <p:pic>
        <p:nvPicPr>
          <p:cNvPr id="183" name="Google Shape;183;g38e2c4947a4_0_28"/>
          <p:cNvPicPr preferRelativeResize="0"/>
          <p:nvPr/>
        </p:nvPicPr>
        <p:blipFill rotWithShape="1">
          <a:blip r:embed="rId4">
            <a:alphaModFix/>
          </a:blip>
          <a:srcRect b="11335" l="14524" r="18878" t="11343"/>
          <a:stretch/>
        </p:blipFill>
        <p:spPr>
          <a:xfrm>
            <a:off x="8525725" y="1460499"/>
            <a:ext cx="2556699" cy="1486375"/>
          </a:xfrm>
          <a:prstGeom prst="rect">
            <a:avLst/>
          </a:prstGeom>
          <a:solidFill>
            <a:schemeClr val="lt1"/>
          </a:solidFill>
          <a:ln>
            <a:noFill/>
          </a:ln>
        </p:spPr>
      </p:pic>
      <p:pic>
        <p:nvPicPr>
          <p:cNvPr id="184" name="Google Shape;184;g38e2c4947a4_0_28"/>
          <p:cNvPicPr preferRelativeResize="0"/>
          <p:nvPr/>
        </p:nvPicPr>
        <p:blipFill rotWithShape="1">
          <a:blip r:embed="rId5">
            <a:alphaModFix/>
          </a:blip>
          <a:srcRect b="18138" l="12826" r="16661" t="14408"/>
          <a:stretch/>
        </p:blipFill>
        <p:spPr>
          <a:xfrm>
            <a:off x="9464175" y="5068538"/>
            <a:ext cx="1871575" cy="1002625"/>
          </a:xfrm>
          <a:prstGeom prst="rect">
            <a:avLst/>
          </a:prstGeom>
          <a:solidFill>
            <a:schemeClr val="lt1"/>
          </a:solidFill>
          <a:ln>
            <a:noFill/>
          </a:ln>
        </p:spPr>
      </p:pic>
      <p:pic>
        <p:nvPicPr>
          <p:cNvPr id="185" name="Google Shape;185;g38e2c4947a4_0_28"/>
          <p:cNvPicPr preferRelativeResize="0"/>
          <p:nvPr/>
        </p:nvPicPr>
        <p:blipFill rotWithShape="1">
          <a:blip r:embed="rId6">
            <a:alphaModFix/>
          </a:blip>
          <a:srcRect b="308" l="14428" r="12364" t="298"/>
          <a:stretch/>
        </p:blipFill>
        <p:spPr>
          <a:xfrm>
            <a:off x="9825400" y="3510841"/>
            <a:ext cx="1673751" cy="1192996"/>
          </a:xfrm>
          <a:prstGeom prst="rect">
            <a:avLst/>
          </a:prstGeom>
          <a:solidFill>
            <a:schemeClr val="lt1"/>
          </a:solidFill>
          <a:ln>
            <a:noFill/>
          </a:ln>
        </p:spPr>
      </p:pic>
      <p:pic>
        <p:nvPicPr>
          <p:cNvPr id="186" name="Google Shape;186;g38e2c4947a4_0_28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5971875" y="5165184"/>
            <a:ext cx="3141400" cy="989541"/>
          </a:xfrm>
          <a:prstGeom prst="rect">
            <a:avLst/>
          </a:prstGeom>
          <a:solidFill>
            <a:schemeClr val="lt1"/>
          </a:solidFill>
          <a:ln>
            <a:noFill/>
          </a:ln>
        </p:spPr>
      </p:pic>
      <p:pic>
        <p:nvPicPr>
          <p:cNvPr id="187" name="Google Shape;187;g38e2c4947a4_0_28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7470525" y="1837900"/>
            <a:ext cx="1108975" cy="1108975"/>
          </a:xfrm>
          <a:prstGeom prst="rect">
            <a:avLst/>
          </a:prstGeom>
          <a:solidFill>
            <a:schemeClr val="lt1"/>
          </a:solidFill>
          <a:ln>
            <a:noFill/>
          </a:ln>
        </p:spPr>
      </p:pic>
      <p:pic>
        <p:nvPicPr>
          <p:cNvPr id="188" name="Google Shape;188;g38e2c4947a4_0_28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7841463" y="3364150"/>
            <a:ext cx="1983933" cy="1486375"/>
          </a:xfrm>
          <a:prstGeom prst="rect">
            <a:avLst/>
          </a:prstGeom>
          <a:solidFill>
            <a:schemeClr val="lt1"/>
          </a:solidFill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193" name="Google Shape;193;g38e2c4947a4_0_28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94" name="Google Shape;194;g38e2c4947a4_0_288"/>
          <p:cNvSpPr txBox="1"/>
          <p:nvPr/>
        </p:nvSpPr>
        <p:spPr>
          <a:xfrm>
            <a:off x="1" y="2707792"/>
            <a:ext cx="12192000" cy="1816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b="0" i="0" lang="es-MX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DEMOSTRACIÓN DEL RESULTADO </a:t>
            </a:r>
            <a:endParaRPr b="0" i="0" sz="4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b="0" i="0" lang="es-MX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DEL PROYECTO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s-MX" sz="2400" u="none" cap="none" strike="noStrike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Exposición del sistema</a:t>
            </a:r>
            <a:endParaRPr b="0" i="0" sz="2400" u="none" cap="none" strike="noStrike">
              <a:solidFill>
                <a:srgbClr val="75707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g38e2c4947a4_0_288"/>
          <p:cNvSpPr txBox="1"/>
          <p:nvPr/>
        </p:nvSpPr>
        <p:spPr>
          <a:xfrm>
            <a:off x="136188" y="368928"/>
            <a:ext cx="12192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s-MX" sz="1800" u="none" cap="none" strike="noStrike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PROYECTO VGD LEARN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200" name="Google Shape;200;g38e2c4947a4_0_4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201" name="Google Shape;201;g38e2c4947a4_0_48"/>
          <p:cNvSpPr txBox="1"/>
          <p:nvPr/>
        </p:nvSpPr>
        <p:spPr>
          <a:xfrm>
            <a:off x="0" y="3044279"/>
            <a:ext cx="121920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b="0" i="0" lang="es-MX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PREGUNTAS DE LA COMISIÓN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" name="Google Shape;202;g38e2c4947a4_0_48"/>
          <p:cNvSpPr txBox="1"/>
          <p:nvPr/>
        </p:nvSpPr>
        <p:spPr>
          <a:xfrm>
            <a:off x="136188" y="368928"/>
            <a:ext cx="12192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s-MX" sz="1800" u="none" cap="none" strike="noStrike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PROYECTO VGD LEARN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207" name="Google Shape;207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14"/>
          <p:cNvSpPr txBox="1"/>
          <p:nvPr/>
        </p:nvSpPr>
        <p:spPr>
          <a:xfrm>
            <a:off x="3463950" y="2028300"/>
            <a:ext cx="5264100" cy="2801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800"/>
              <a:buFont typeface="Arial"/>
              <a:buNone/>
            </a:pPr>
            <a:r>
              <a:rPr lang="es-MX" sz="8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¡</a:t>
            </a:r>
            <a:r>
              <a:rPr b="0" i="0" lang="es-MX" sz="8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MUCHAS </a:t>
            </a:r>
            <a:endParaRPr b="0" i="0" sz="9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800"/>
              <a:buFont typeface="Arial"/>
              <a:buNone/>
            </a:pPr>
            <a:r>
              <a:rPr b="0" i="0" lang="es-MX" sz="8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GRACIAS!</a:t>
            </a:r>
            <a:endParaRPr b="0" i="0" sz="9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9" name="Google Shape;209;p14"/>
          <p:cNvSpPr txBox="1"/>
          <p:nvPr/>
        </p:nvSpPr>
        <p:spPr>
          <a:xfrm>
            <a:off x="136188" y="368928"/>
            <a:ext cx="12192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s-MX" sz="1800" u="none" cap="none" strike="noStrike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PROYECTO VGD LEARN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10" name="Google Shape;210;p14"/>
          <p:cNvCxnSpPr/>
          <p:nvPr/>
        </p:nvCxnSpPr>
        <p:spPr>
          <a:xfrm>
            <a:off x="0" y="758027"/>
            <a:ext cx="4085700" cy="0"/>
          </a:xfrm>
          <a:prstGeom prst="straightConnector1">
            <a:avLst/>
          </a:prstGeom>
          <a:noFill/>
          <a:ln cap="flat" cmpd="sng" w="15875">
            <a:solidFill>
              <a:srgbClr val="F5F7FC"/>
            </a:solidFill>
            <a:prstDash val="solid"/>
            <a:miter lim="800000"/>
            <a:headEnd len="sm" w="sm" type="none"/>
            <a:tailEnd len="sm" w="sm" type="none"/>
          </a:ln>
        </p:spPr>
      </p:cxnSp>
    </p:spTree>
  </p:cSld>
  <p:clrMapOvr>
    <a:masterClrMapping/>
  </p:clrMapOvr>
  <p:transition spd="slow">
    <p:wipe dir="l"/>
  </p:transition>
</p:sld>
</file>

<file path=ppt/theme/theme1.xml><?xml version="1.0" encoding="utf-8"?>
<a:theme xmlns:a="http://schemas.openxmlformats.org/drawingml/2006/main" xmlns:r="http://schemas.openxmlformats.org/officeDocument/2006/relationships" name="Tema de 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2023-10-28T21:12:11Z</dcterms:created>
  <dc:creator>Gerardo Galan Cruz</dc:creator>
</cp:coreProperties>
</file>