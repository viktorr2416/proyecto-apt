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givHerDcw+h1HBrKy9ZtaZVCkX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e2c4947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g38e2c4947a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c31d335ee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37c31d335ee_0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8e2c4947a4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g38e2c4947a4_0_3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d9aee7fe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g39d9aee7fe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8e2c4947a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g38e2c4947a4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8e2c4947a4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g38e2c4947a4_0_2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8e2c4947a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g38e2c4947a4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5" name="Google Shape;20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hyperlink" Target="https://dgvcapstone.atlassian.net/jira/software/projects/SCRUM/boards/1/backlog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hyperlink" Target="https://dgvcapstone.atlassian.net/jira/software/projects/SCRUM/boards/1/backlog" TargetMode="External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5.png"/><Relationship Id="rId9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10.png"/><Relationship Id="rId8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062600" y="1966800"/>
            <a:ext cx="10066800" cy="29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s-MX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s-MX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b="1" i="0" lang="es-MX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VGD LEARN</a:t>
            </a:r>
            <a:r>
              <a:rPr b="0" i="0" lang="es-MX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b="0" i="0" sz="8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MX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CAPSTONE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"/>
          <p:cNvSpPr/>
          <p:nvPr/>
        </p:nvSpPr>
        <p:spPr>
          <a:xfrm>
            <a:off x="4085626" y="1584994"/>
            <a:ext cx="7633494" cy="1359548"/>
          </a:xfrm>
          <a:prstGeom prst="roundRect">
            <a:avLst>
              <a:gd fmla="val 10000" name="adj"/>
            </a:avLst>
          </a:prstGeom>
          <a:gradFill>
            <a:gsLst>
              <a:gs pos="0">
                <a:srgbClr val="90BBE3"/>
              </a:gs>
              <a:gs pos="100000">
                <a:srgbClr val="397BB7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57150" rotWithShape="0" algn="ctr" dir="5400000" dist="19050">
              <a:srgbClr val="000000">
                <a:alpha val="6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5748279" y="1584994"/>
            <a:ext cx="5970900" cy="13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9050" lIns="99050" spcFirstLastPara="1" rIns="99050" wrap="square" tIns="990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b="0" i="0" lang="es-MX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Diego Allende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228600" marR="0" rtl="0" algn="l">
              <a:lnSpc>
                <a:spcPct val="90000"/>
              </a:lnSpc>
              <a:spcBef>
                <a:spcPts val="91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b="0" i="0" lang="es-MX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Programador Backend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228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b="0" i="0" lang="es-MX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Crear y mantener APIs RESTful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4221580" y="1720948"/>
            <a:ext cx="1526698" cy="1087638"/>
          </a:xfrm>
          <a:prstGeom prst="roundRect">
            <a:avLst>
              <a:gd fmla="val 10000" name="adj"/>
            </a:avLst>
          </a:prstGeom>
          <a:solidFill>
            <a:srgbClr val="C3D4EB"/>
          </a:solidFill>
          <a:ln>
            <a:noFill/>
          </a:ln>
          <a:effectLst>
            <a:outerShdw blurRad="57150" rotWithShape="0" algn="ctr" dir="5400000" dist="19050">
              <a:srgbClr val="000000">
                <a:alpha val="6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4085626" y="3080496"/>
            <a:ext cx="7633494" cy="1359548"/>
          </a:xfrm>
          <a:prstGeom prst="roundRect">
            <a:avLst>
              <a:gd fmla="val 10000" name="adj"/>
            </a:avLst>
          </a:prstGeom>
          <a:gradFill>
            <a:gsLst>
              <a:gs pos="0">
                <a:srgbClr val="90BBE3"/>
              </a:gs>
              <a:gs pos="100000">
                <a:srgbClr val="397BB7"/>
              </a:gs>
            </a:gsLst>
            <a:lin ang="5400012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5748279" y="3080496"/>
            <a:ext cx="5970840" cy="1359548"/>
          </a:xfrm>
          <a:prstGeom prst="rect">
            <a:avLst/>
          </a:prstGeom>
          <a:noFill/>
          <a:ln>
            <a:noFill/>
          </a:ln>
        </p:spPr>
        <p:txBody>
          <a:bodyPr anchorCtr="0" anchor="t" bIns="99050" lIns="99050" spcFirstLastPara="1" rIns="99050" wrap="square" tIns="990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b="0" i="0" lang="es-MX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Victor Ayala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228600" marR="0" rtl="0" algn="l">
              <a:lnSpc>
                <a:spcPct val="90000"/>
              </a:lnSpc>
              <a:spcBef>
                <a:spcPts val="91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b="0" i="0" lang="es-MX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 Owner y Programador Frontend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228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b="0" i="0" lang="es-MX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Líder y desarrollador de interfaces.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4221580" y="3216451"/>
            <a:ext cx="1526698" cy="1087638"/>
          </a:xfrm>
          <a:prstGeom prst="roundRect">
            <a:avLst>
              <a:gd fmla="val 10000" name="adj"/>
            </a:avLst>
          </a:prstGeom>
          <a:solidFill>
            <a:srgbClr val="C3D4EB"/>
          </a:solidFill>
          <a:ln>
            <a:noFill/>
          </a:ln>
          <a:effectLst>
            <a:outerShdw blurRad="57150" rotWithShape="0" algn="ctr" dir="5400000" dist="19050">
              <a:srgbClr val="000000">
                <a:alpha val="6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4085626" y="4575999"/>
            <a:ext cx="7633494" cy="1359548"/>
          </a:xfrm>
          <a:prstGeom prst="roundRect">
            <a:avLst>
              <a:gd fmla="val 10000" name="adj"/>
            </a:avLst>
          </a:prstGeom>
          <a:gradFill>
            <a:gsLst>
              <a:gs pos="0">
                <a:srgbClr val="90BBE3"/>
              </a:gs>
              <a:gs pos="100000">
                <a:srgbClr val="397BB7"/>
              </a:gs>
            </a:gsLst>
            <a:lin ang="5400012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5748279" y="4575999"/>
            <a:ext cx="5970840" cy="1359548"/>
          </a:xfrm>
          <a:prstGeom prst="rect">
            <a:avLst/>
          </a:prstGeom>
          <a:noFill/>
          <a:ln>
            <a:noFill/>
          </a:ln>
        </p:spPr>
        <p:txBody>
          <a:bodyPr anchorCtr="0" anchor="t" bIns="99050" lIns="99050" spcFirstLastPara="1" rIns="99050" wrap="square" tIns="990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b="0" i="0" lang="es-MX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Greisy Garcia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228600" marR="0" rtl="0" algn="l">
              <a:lnSpc>
                <a:spcPct val="90000"/>
              </a:lnSpc>
              <a:spcBef>
                <a:spcPts val="91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b="0" i="0" lang="es-MX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Scrum Master - QA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228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b="0" i="0" lang="es-MX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Planificación sprints y retrospectivas.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4221580" y="4711954"/>
            <a:ext cx="1526698" cy="1087638"/>
          </a:xfrm>
          <a:prstGeom prst="roundRect">
            <a:avLst>
              <a:gd fmla="val 10000" name="adj"/>
            </a:avLst>
          </a:prstGeom>
          <a:solidFill>
            <a:srgbClr val="C3D4EB"/>
          </a:solidFill>
          <a:ln>
            <a:noFill/>
          </a:ln>
          <a:effectLst>
            <a:outerShdw blurRad="57150" rotWithShape="0" algn="ctr" dir="5400000" dist="19050">
              <a:srgbClr val="000000">
                <a:alpha val="6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VGD LEARN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7" name="Google Shape;10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VGD LEARN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" name="Google Shape;110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1" name="Google Shape;111;p3"/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MX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700">
                <a:solidFill>
                  <a:schemeClr val="dk1"/>
                </a:solidFill>
              </a:rPr>
              <a:t>Los estudiantes </a:t>
            </a:r>
            <a:r>
              <a:rPr b="1" lang="es-MX" sz="1700">
                <a:solidFill>
                  <a:schemeClr val="dk1"/>
                </a:solidFill>
              </a:rPr>
              <a:t>disponen de pocos recursos de aprendizaje y carecen de una herramienta unificada que les permita organizar su estudio, practicar de forma personalizada y medir su progreso</a:t>
            </a:r>
            <a:r>
              <a:rPr lang="es-MX" sz="1700">
                <a:solidFill>
                  <a:schemeClr val="dk1"/>
                </a:solidFill>
              </a:rPr>
              <a:t>. Esta carencia provoca un aprendizaje desordenado y poco efectivo.</a:t>
            </a:r>
            <a:endParaRPr sz="17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MX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Una herramienta que ayude a los estudiantes a </a:t>
            </a:r>
            <a:r>
              <a:rPr b="1" i="0" lang="es-MX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organizar sus materiales en módulos temáticos, haciendo que el estudio sea más ordenado</a:t>
            </a:r>
            <a:r>
              <a:rPr b="0" i="0" lang="es-MX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y</a:t>
            </a:r>
            <a:r>
              <a:rPr lang="es-MX" sz="1700">
                <a:solidFill>
                  <a:schemeClr val="dk1"/>
                </a:solidFill>
              </a:rPr>
              <a:t> </a:t>
            </a:r>
            <a:r>
              <a:rPr b="0" i="0" lang="es-MX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usando inteligencia artificial,</a:t>
            </a:r>
            <a:r>
              <a:rPr lang="es-MX" sz="1700">
                <a:solidFill>
                  <a:schemeClr val="dk1"/>
                </a:solidFill>
              </a:rPr>
              <a:t> además de</a:t>
            </a:r>
            <a:r>
              <a:rPr b="0" i="0" lang="es-MX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 contenido que ellos subirán. También se mostrarán los resultados para ver qué temas dominan y cuáles necesitan reforza</a:t>
            </a:r>
            <a:r>
              <a:rPr lang="es-MX" sz="1700">
                <a:solidFill>
                  <a:schemeClr val="dk1"/>
                </a:solidFill>
              </a:rPr>
              <a:t>r en el resultado final de los quizzes.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8" name="Google Shape;11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VGD LEARN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0" y="957329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2" name="Google Shape;122;p4"/>
          <p:cNvSpPr txBox="1"/>
          <p:nvPr/>
        </p:nvSpPr>
        <p:spPr>
          <a:xfrm>
            <a:off x="-24" y="3063734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614525" y="1704775"/>
            <a:ext cx="10962900" cy="1171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i="0" lang="es-MX" sz="1600" u="none" cap="none" strike="noStrike">
                <a:solidFill>
                  <a:schemeClr val="dk1"/>
                </a:solidFill>
              </a:rPr>
              <a:t>Desarrollar una plataforma digital educativa que integre inteligencia artificial y procesamiento de lenguaje natural, permitiendo a los estudiantes organizar sus materiales de estudio, generar quizzes personalizados</a:t>
            </a:r>
            <a:r>
              <a:rPr lang="es-MX" sz="1600">
                <a:solidFill>
                  <a:schemeClr val="dk1"/>
                </a:solidFill>
              </a:rPr>
              <a:t>.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614525" y="3710225"/>
            <a:ext cx="10962900" cy="2841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30200" lvl="0" marL="457200" rtl="0" algn="just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s-MX" sz="1600">
                <a:solidFill>
                  <a:schemeClr val="dk1"/>
                </a:solidFill>
              </a:rPr>
              <a:t>Mejorar la organización de materiales de estudio de manera simple y accesible</a:t>
            </a:r>
            <a:r>
              <a:rPr lang="es-MX" sz="1600">
                <a:solidFill>
                  <a:schemeClr val="dk1"/>
                </a:solidFill>
              </a:rPr>
              <a:t> en comparación a la forma en cómo lo hacen los colegios/instituciones actualmente, que es de forma manual.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s-MX" sz="1600">
                <a:solidFill>
                  <a:schemeClr val="dk1"/>
                </a:solidFill>
              </a:rPr>
              <a:t>Disponer de evaluaciones personalizadas según el nivel del estudiante</a:t>
            </a:r>
            <a:r>
              <a:rPr lang="es-MX" sz="1600">
                <a:solidFill>
                  <a:schemeClr val="dk1"/>
                </a:solidFill>
              </a:rPr>
              <a:t>, para que </a:t>
            </a:r>
            <a:r>
              <a:rPr lang="es-MX" sz="1600">
                <a:solidFill>
                  <a:schemeClr val="dk1"/>
                </a:solidFill>
              </a:rPr>
              <a:t>esté</a:t>
            </a:r>
            <a:r>
              <a:rPr lang="es-MX" sz="1600">
                <a:solidFill>
                  <a:schemeClr val="dk1"/>
                </a:solidFill>
              </a:rPr>
              <a:t> </a:t>
            </a:r>
            <a:r>
              <a:rPr lang="es-MX" sz="1600">
                <a:solidFill>
                  <a:schemeClr val="dk1"/>
                </a:solidFill>
              </a:rPr>
              <a:t>realmente</a:t>
            </a:r>
            <a:r>
              <a:rPr lang="es-MX" sz="1600">
                <a:solidFill>
                  <a:schemeClr val="dk1"/>
                </a:solidFill>
              </a:rPr>
              <a:t> refuerce sus conocimientos.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600"/>
              <a:buChar char="●"/>
            </a:pPr>
            <a:r>
              <a:rPr b="1" lang="es-MX" sz="1600">
                <a:solidFill>
                  <a:schemeClr val="dk1"/>
                </a:solidFill>
              </a:rPr>
              <a:t>Transformar los apuntes o documentos en módulos de estudios listos para usar</a:t>
            </a:r>
            <a:r>
              <a:rPr lang="es-MX" sz="1600">
                <a:solidFill>
                  <a:schemeClr val="dk1"/>
                </a:solidFill>
              </a:rPr>
              <a:t>, con el fin de facilitar el aprendizaje autónomo.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9" name="Google Shape;129;g38e2c4947a4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g38e2c4947a4_0_0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VGD LEARN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8e2c4947a4_0_0"/>
          <p:cNvSpPr txBox="1"/>
          <p:nvPr/>
        </p:nvSpPr>
        <p:spPr>
          <a:xfrm>
            <a:off x="1922400" y="3818525"/>
            <a:ext cx="8619600" cy="646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Limitaciones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" name="Google Shape;132;g38e2c4947a4_0_0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3" name="Google Shape;133;g38e2c4947a4_0_0"/>
          <p:cNvSpPr/>
          <p:nvPr/>
        </p:nvSpPr>
        <p:spPr>
          <a:xfrm>
            <a:off x="615500" y="4465025"/>
            <a:ext cx="10779900" cy="22506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s-MX" sz="1500">
                <a:solidFill>
                  <a:schemeClr val="dk1"/>
                </a:solidFill>
                <a:highlight>
                  <a:schemeClr val="lt1"/>
                </a:highlight>
              </a:rPr>
              <a:t>Las actividades generadas por la plataforma (quizzes, flashcards, autocompletado, etc.) se limitan a contenido textual, sin incluir componentes gráficos.</a:t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MX" sz="1500">
                <a:solidFill>
                  <a:schemeClr val="dk1"/>
                </a:solidFill>
                <a:highlight>
                  <a:schemeClr val="lt1"/>
                </a:highlight>
              </a:rPr>
              <a:t>La personalización del contenido no ocurre en tiempo real; la IA trabaja con un análisis estático del material previamente cargado.</a:t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MX" sz="1500">
                <a:solidFill>
                  <a:schemeClr val="dk1"/>
                </a:solidFill>
                <a:highlight>
                  <a:schemeClr val="lt1"/>
                </a:highlight>
              </a:rPr>
              <a:t>El alcance del proyecto se centra exclusivamente en aprendizaje individual autónomo.</a:t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MX" sz="1500">
                <a:solidFill>
                  <a:schemeClr val="dk1"/>
                </a:solidFill>
                <a:highlight>
                  <a:schemeClr val="lt1"/>
                </a:highlight>
              </a:rPr>
              <a:t>La versión inicial está optimizada para entorno web.</a:t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descr="EscuelaIT Duoc UC - Escuela de Informática y Telecomunicaciones Duoc UC - Duoc  UC | LinkedIn" id="134" name="Google Shape;134;g38e2c4947a4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g38e2c4947a4_0_0"/>
          <p:cNvSpPr txBox="1"/>
          <p:nvPr/>
        </p:nvSpPr>
        <p:spPr>
          <a:xfrm>
            <a:off x="1695650" y="720625"/>
            <a:ext cx="8619600" cy="646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38e2c4947a4_0_0"/>
          <p:cNvSpPr/>
          <p:nvPr/>
        </p:nvSpPr>
        <p:spPr>
          <a:xfrm>
            <a:off x="735200" y="1419702"/>
            <a:ext cx="10540500" cy="22506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500">
                <a:solidFill>
                  <a:schemeClr val="dk1"/>
                </a:solidFill>
              </a:rPr>
              <a:t>El proyecto VGD Learn tendrá como alcance el desarrollo de una plataforma educativa digital. La plataforma permitirá: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MX" sz="1500">
                <a:solidFill>
                  <a:schemeClr val="dk1"/>
                </a:solidFill>
              </a:rPr>
              <a:t>Un</a:t>
            </a:r>
            <a:r>
              <a:rPr lang="es-MX" sz="1500">
                <a:solidFill>
                  <a:schemeClr val="dk1"/>
                </a:solidFill>
              </a:rPr>
              <a:t> quiz inicial para diagnosticar el estilo de pensamiento del estudiante.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MX" sz="1500">
                <a:solidFill>
                  <a:schemeClr val="dk1"/>
                </a:solidFill>
              </a:rPr>
              <a:t>Generar automáticamente </a:t>
            </a:r>
            <a:r>
              <a:rPr b="1" lang="es-MX" sz="1500">
                <a:solidFill>
                  <a:schemeClr val="dk1"/>
                </a:solidFill>
              </a:rPr>
              <a:t>quizzes</a:t>
            </a:r>
            <a:r>
              <a:rPr lang="es-MX" sz="1500">
                <a:solidFill>
                  <a:schemeClr val="dk1"/>
                </a:solidFill>
              </a:rPr>
              <a:t>, </a:t>
            </a:r>
            <a:r>
              <a:rPr b="1" lang="es-MX" sz="1500">
                <a:solidFill>
                  <a:schemeClr val="dk1"/>
                </a:solidFill>
              </a:rPr>
              <a:t>flashcards</a:t>
            </a:r>
            <a:r>
              <a:rPr lang="es-MX" sz="1500">
                <a:solidFill>
                  <a:schemeClr val="dk1"/>
                </a:solidFill>
              </a:rPr>
              <a:t>, </a:t>
            </a:r>
            <a:r>
              <a:rPr b="1" lang="es-MX" sz="1500">
                <a:solidFill>
                  <a:schemeClr val="dk1"/>
                </a:solidFill>
              </a:rPr>
              <a:t>resúmenes, etc</a:t>
            </a:r>
            <a:r>
              <a:rPr lang="es-MX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MX" sz="1500">
                <a:solidFill>
                  <a:schemeClr val="dk1"/>
                </a:solidFill>
              </a:rPr>
              <a:t>Adaptar las quizzes al nivel y necesidades del estudiante.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1" name="Google Shape;141;g37c31d335ee_0_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37c31d335ee_0_63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VGD LEARN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7c31d335ee_0_63"/>
          <p:cNvSpPr txBox="1"/>
          <p:nvPr/>
        </p:nvSpPr>
        <p:spPr>
          <a:xfrm>
            <a:off x="0" y="101705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Metodología de trabajo para el desarrollo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g37c31d335ee_0_63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5" name="Google Shape;145;g37c31d335ee_0_63"/>
          <p:cNvSpPr/>
          <p:nvPr/>
        </p:nvSpPr>
        <p:spPr>
          <a:xfrm>
            <a:off x="1159200" y="2110500"/>
            <a:ext cx="10146000" cy="39507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desarrollo del proyecto </a:t>
            </a:r>
            <a:r>
              <a:rPr b="1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VGD Learn</a:t>
            </a: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basa en la metodología ágil </a:t>
            </a:r>
            <a:r>
              <a:rPr b="1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SCRUM</a:t>
            </a: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que permite trabajar de forma iterativa, colaborativa y con mejoras continuas en cada etapa.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</a:t>
            </a:r>
            <a:r>
              <a:rPr b="1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Sprint</a:t>
            </a: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tiene una duración de </a:t>
            </a:r>
            <a:r>
              <a:rPr b="1" lang="es-MX" sz="1600">
                <a:solidFill>
                  <a:schemeClr val="dk1"/>
                </a:solidFill>
              </a:rPr>
              <a:t>dos</a:t>
            </a:r>
            <a:r>
              <a:rPr b="1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semanas</a:t>
            </a: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 incluye las siguientes instancias: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1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Sprint Planning</a:t>
            </a:r>
            <a:r>
              <a:rPr b="1" lang="es-MX" sz="1600">
                <a:solidFill>
                  <a:schemeClr val="dk1"/>
                </a:solidFill>
              </a:rPr>
              <a:t>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1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Daily Meetings:</a:t>
            </a: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s-MX" sz="1600">
                <a:solidFill>
                  <a:schemeClr val="dk1"/>
                </a:solidFill>
              </a:rPr>
              <a:t>2</a:t>
            </a: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veces por semana).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1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Sprint Review:</a:t>
            </a: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presentación de avances funcionales.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1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Sprint Retrospective:</a:t>
            </a: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análisis de mejoras en la dinámica de trabajo.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proceso se apoya además en herramientas de control como </a:t>
            </a:r>
            <a:r>
              <a:rPr b="1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(versionado y repositorio de código), </a:t>
            </a:r>
            <a:r>
              <a:rPr b="1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Figma</a:t>
            </a: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(diseño visual)</a:t>
            </a:r>
            <a:r>
              <a:rPr lang="es-MX" sz="1600">
                <a:solidFill>
                  <a:schemeClr val="dk1"/>
                </a:solidFill>
              </a:rPr>
              <a:t>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0" name="Google Shape;150;g38e2c4947a4_0_3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g38e2c4947a4_0_385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VGD LEARN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38e2c4947a4_0_385"/>
          <p:cNvSpPr txBox="1"/>
          <p:nvPr/>
        </p:nvSpPr>
        <p:spPr>
          <a:xfrm>
            <a:off x="0" y="777824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Metodología de trabajo para el desarrollo del proyecto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Google Shape;153;g38e2c4947a4_0_385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54" name="Google Shape;154;g38e2c4947a4_0_3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26463" y="1538074"/>
            <a:ext cx="7139064" cy="5128876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9" name="Google Shape;15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8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VGD LEARN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8"/>
          <p:cNvSpPr txBox="1"/>
          <p:nvPr/>
        </p:nvSpPr>
        <p:spPr>
          <a:xfrm>
            <a:off x="3700950" y="758025"/>
            <a:ext cx="4790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el</a:t>
            </a: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" name="Google Shape;162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3" name="Google Shape;163;p8"/>
          <p:cNvSpPr/>
          <p:nvPr/>
        </p:nvSpPr>
        <p:spPr>
          <a:xfrm>
            <a:off x="6103050" y="2470400"/>
            <a:ext cx="720900" cy="21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8" title="Diagrama de arquitectura-Página-2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175" y="1505550"/>
            <a:ext cx="11054151" cy="50169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9" name="Google Shape;169;g39d9aee7fe7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9d9aee7fe7_0_0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VGD LEARN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9d9aee7fe7_0_0"/>
          <p:cNvSpPr txBox="1"/>
          <p:nvPr/>
        </p:nvSpPr>
        <p:spPr>
          <a:xfrm>
            <a:off x="2410075" y="738225"/>
            <a:ext cx="6870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 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2" name="Google Shape;172;g39d9aee7fe7_0_0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73" name="Google Shape;173;g39d9aee7fe7_0_0" title="Diagrama sin título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5050" y="1344550"/>
            <a:ext cx="8058325" cy="51221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8" name="Google Shape;178;g38e2c4947a4_0_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38e2c4947a4_0_28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VGD LEARN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38e2c4947a4_0_28"/>
          <p:cNvSpPr txBox="1"/>
          <p:nvPr/>
        </p:nvSpPr>
        <p:spPr>
          <a:xfrm>
            <a:off x="2242975" y="909525"/>
            <a:ext cx="6870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1" name="Google Shape;181;g38e2c4947a4_0_28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2" name="Google Shape;182;g38e2c4947a4_0_28"/>
          <p:cNvSpPr/>
          <p:nvPr/>
        </p:nvSpPr>
        <p:spPr>
          <a:xfrm>
            <a:off x="936420" y="1978550"/>
            <a:ext cx="10146000" cy="40926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marR="0" rtl="0" algn="l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s-MX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r>
              <a:rPr b="0" i="0" lang="es-MX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React + Vite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s-MX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Backend: Java/Spring Boot/REST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s-MX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s-MX" sz="2000">
                <a:solidFill>
                  <a:schemeClr val="dk1"/>
                </a:solidFill>
              </a:rPr>
              <a:t>ase de datos</a:t>
            </a:r>
            <a:r>
              <a:rPr b="0" i="0" lang="es-MX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PostgreSQL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s-MX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Infraestructura: GCP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s-MX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Testing y QA: Mockito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s-MX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 de versiones: GIT + GitHub/Git Kraken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s-MX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OpenAI + Langchain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s-MX" sz="2000">
                <a:solidFill>
                  <a:schemeClr val="dk1"/>
                </a:solidFill>
              </a:rPr>
              <a:t>FIGMA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marR="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s-MX" sz="2000">
                <a:solidFill>
                  <a:schemeClr val="dk1"/>
                </a:solidFill>
              </a:rPr>
              <a:t>Trello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83" name="Google Shape;183;g38e2c4947a4_0_28"/>
          <p:cNvPicPr preferRelativeResize="0"/>
          <p:nvPr/>
        </p:nvPicPr>
        <p:blipFill rotWithShape="1">
          <a:blip r:embed="rId4">
            <a:alphaModFix/>
          </a:blip>
          <a:srcRect b="11335" l="14524" r="18878" t="11343"/>
          <a:stretch/>
        </p:blipFill>
        <p:spPr>
          <a:xfrm>
            <a:off x="8525725" y="1460499"/>
            <a:ext cx="2556699" cy="148637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84" name="Google Shape;184;g38e2c4947a4_0_28"/>
          <p:cNvPicPr preferRelativeResize="0"/>
          <p:nvPr/>
        </p:nvPicPr>
        <p:blipFill rotWithShape="1">
          <a:blip r:embed="rId5">
            <a:alphaModFix/>
          </a:blip>
          <a:srcRect b="18138" l="12826" r="16661" t="14408"/>
          <a:stretch/>
        </p:blipFill>
        <p:spPr>
          <a:xfrm>
            <a:off x="9464175" y="5068538"/>
            <a:ext cx="1871575" cy="100262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85" name="Google Shape;185;g38e2c4947a4_0_28"/>
          <p:cNvPicPr preferRelativeResize="0"/>
          <p:nvPr/>
        </p:nvPicPr>
        <p:blipFill rotWithShape="1">
          <a:blip r:embed="rId6">
            <a:alphaModFix/>
          </a:blip>
          <a:srcRect b="308" l="14428" r="12364" t="298"/>
          <a:stretch/>
        </p:blipFill>
        <p:spPr>
          <a:xfrm>
            <a:off x="9825400" y="3510841"/>
            <a:ext cx="1673751" cy="119299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86" name="Google Shape;186;g38e2c4947a4_0_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71875" y="5165184"/>
            <a:ext cx="3141400" cy="98954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87" name="Google Shape;187;g38e2c4947a4_0_2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70525" y="1837900"/>
            <a:ext cx="1108975" cy="110897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88" name="Google Shape;188;g38e2c4947a4_0_2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841463" y="3364150"/>
            <a:ext cx="1983933" cy="148637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3" name="Google Shape;193;g38e2c4947a4_0_2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38e2c4947a4_0_288"/>
          <p:cNvSpPr txBox="1"/>
          <p:nvPr/>
        </p:nvSpPr>
        <p:spPr>
          <a:xfrm>
            <a:off x="1" y="2707792"/>
            <a:ext cx="121920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MX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MX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MX" sz="24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Exposición del sistema</a:t>
            </a:r>
            <a:endParaRPr b="0" i="0" sz="24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8e2c4947a4_0_288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VGD LEARN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0" name="Google Shape;200;g38e2c4947a4_0_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g38e2c4947a4_0_48"/>
          <p:cNvSpPr txBox="1"/>
          <p:nvPr/>
        </p:nvSpPr>
        <p:spPr>
          <a:xfrm>
            <a:off x="0" y="3044279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MX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8e2c4947a4_0_48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VGD LEARN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7" name="Google Shape;20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4"/>
          <p:cNvSpPr txBox="1"/>
          <p:nvPr/>
        </p:nvSpPr>
        <p:spPr>
          <a:xfrm>
            <a:off x="3463950" y="2028300"/>
            <a:ext cx="52641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s-MX" sz="8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¡</a:t>
            </a:r>
            <a:r>
              <a:rPr b="0" i="0" lang="es-MX" sz="8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MUCHAS </a:t>
            </a:r>
            <a:endParaRPr b="0" i="0" sz="9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0" i="0" lang="es-MX" sz="8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GRACIAS!</a:t>
            </a:r>
            <a:endParaRPr b="0" i="0" sz="9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4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VGD LEARN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14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