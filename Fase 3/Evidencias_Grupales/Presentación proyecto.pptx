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GhDrkQREPAhCbp1ByOTFPcaDI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2c4947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8e2c4947a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31d335e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c31d335ee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e2c4947a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8e2c4947a4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d9aee7f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9d9aee7f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2c4947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8e2c4947a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2c4947a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8e2c4947a4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2c4947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8e2c4947a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hyperlink" Target="https://dgvcapstone.atlassian.net/jira/software/projects/SCRUM/boards/1/backlo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dgvcapstone.atlassian.net/jira/software/projects/SCRUM/boards/1/backlog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62600" y="1966800"/>
            <a:ext cx="100668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VGD LEARN</a:t>
            </a:r>
            <a:r>
              <a:rPr b="0" i="0" lang="es-MX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4085626" y="1584994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5748279" y="1584994"/>
            <a:ext cx="59709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Diego Allende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Programador Backend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y mantener APIs RESTful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221580" y="1720948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085626" y="3080496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48279" y="3080496"/>
            <a:ext cx="5970840" cy="1359548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Victor Ayala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Owner y Programador Frontend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Líder y desarrollador de interfaces.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221580" y="3216451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085626" y="4575999"/>
            <a:ext cx="7633494" cy="1359548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90BBE3"/>
              </a:gs>
              <a:gs pos="100000">
                <a:srgbClr val="397BB7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748279" y="4575999"/>
            <a:ext cx="5970840" cy="1359548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MX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Greisy Garcia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Master - QA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sprints y retrospectivas.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4221580" y="4711954"/>
            <a:ext cx="1526698" cy="1087638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Los estudiantes </a:t>
            </a:r>
            <a:r>
              <a:rPr b="1" lang="es-MX" sz="1700">
                <a:solidFill>
                  <a:schemeClr val="dk1"/>
                </a:solidFill>
              </a:rPr>
              <a:t>disponen de pocos recursos de aprendizaje y carecen de una herramienta unificada que les permita organizar su estudio, practicar de forma personalizada y medir su progreso</a:t>
            </a:r>
            <a:r>
              <a:rPr lang="es-MX" sz="1700">
                <a:solidFill>
                  <a:schemeClr val="dk1"/>
                </a:solidFill>
              </a:rPr>
              <a:t>. Esta carencia provoca un aprendizaje desordenado y poco efectivo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herramienta que ayude a los estudiantes a </a:t>
            </a:r>
            <a:r>
              <a:rPr b="1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sus materiales en módulos temáticos, haciendo que el estudio sea más ordenado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</a:t>
            </a:r>
            <a:r>
              <a:rPr lang="es-MX" sz="1700">
                <a:solidFill>
                  <a:schemeClr val="dk1"/>
                </a:solidFill>
              </a:rPr>
              <a:t> 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inteligencia artificial,</a:t>
            </a:r>
            <a:r>
              <a:rPr lang="es-MX" sz="1700">
                <a:solidFill>
                  <a:schemeClr val="dk1"/>
                </a:solidFill>
              </a:rPr>
              <a:t> además de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contenido que ellos subirán. También se mostrarán los resultados para ver qué temas dominan y cuáles necesitan reforzar.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0" y="95732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-24" y="306373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25" y="1704775"/>
            <a:ext cx="10962900" cy="117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s-MX" sz="1600" u="none" cap="none" strike="noStrike">
                <a:solidFill>
                  <a:schemeClr val="dk1"/>
                </a:solidFill>
              </a:rPr>
              <a:t>Desarrollar una plataforma digital educativa que integre inteligencia artificial y procesamiento de lenguaje natural, permitiendo a los estudiantes organizar sus materiales de estudio, generar quizzes personalizados y obtener métricas claras de su progreso académico.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3710225"/>
            <a:ext cx="10962900" cy="284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</a:rPr>
              <a:t>Mejorar la organización de materiales de estudio de manera simple y accesible</a:t>
            </a:r>
            <a:r>
              <a:rPr lang="es-MX" sz="1600">
                <a:solidFill>
                  <a:schemeClr val="dk1"/>
                </a:solidFill>
              </a:rPr>
              <a:t> en comparación a la forma en cómo lo hacen los colegios/instituciones actualmente, que es de forma manual.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</a:rPr>
              <a:t>Disponer de evaluaciones personalizadas según el nivel del estudiante</a:t>
            </a:r>
            <a:r>
              <a:rPr lang="es-MX" sz="1600">
                <a:solidFill>
                  <a:schemeClr val="dk1"/>
                </a:solidFill>
              </a:rPr>
              <a:t>, para que </a:t>
            </a:r>
            <a:r>
              <a:rPr lang="es-MX" sz="1600">
                <a:solidFill>
                  <a:schemeClr val="dk1"/>
                </a:solidFill>
              </a:rPr>
              <a:t>esté</a:t>
            </a:r>
            <a:r>
              <a:rPr lang="es-MX" sz="1600">
                <a:solidFill>
                  <a:schemeClr val="dk1"/>
                </a:solidFill>
              </a:rPr>
              <a:t> </a:t>
            </a:r>
            <a:r>
              <a:rPr lang="es-MX" sz="1600">
                <a:solidFill>
                  <a:schemeClr val="dk1"/>
                </a:solidFill>
              </a:rPr>
              <a:t>realmente</a:t>
            </a:r>
            <a:r>
              <a:rPr lang="es-MX" sz="1600">
                <a:solidFill>
                  <a:schemeClr val="dk1"/>
                </a:solidFill>
              </a:rPr>
              <a:t> refuerce sus conocimientos.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Char char="●"/>
            </a:pPr>
            <a:r>
              <a:rPr b="1" lang="es-MX" sz="1600">
                <a:solidFill>
                  <a:schemeClr val="dk1"/>
                </a:solidFill>
              </a:rPr>
              <a:t>Transformar los apuntes o documentos en módulos de estudios listos para usar</a:t>
            </a:r>
            <a:r>
              <a:rPr lang="es-MX" sz="1600">
                <a:solidFill>
                  <a:schemeClr val="dk1"/>
                </a:solidFill>
              </a:rPr>
              <a:t>, con el fin de facilitar el aprendizaje autónomo.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g38e2c4947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8e2c4947a4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8e2c4947a4_0_0"/>
          <p:cNvSpPr txBox="1"/>
          <p:nvPr/>
        </p:nvSpPr>
        <p:spPr>
          <a:xfrm>
            <a:off x="1922400" y="3818525"/>
            <a:ext cx="8619600" cy="64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8e2c4947a4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g38e2c4947a4_0_0"/>
          <p:cNvSpPr/>
          <p:nvPr/>
        </p:nvSpPr>
        <p:spPr>
          <a:xfrm>
            <a:off x="615500" y="4465025"/>
            <a:ext cx="10779900" cy="2250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Las actividades generadas por la plataforma (quizzes, flashcards, autocompletado) se limitan a contenido textual, sin incluir componentes gráficos.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 personalización del contenido no ocurre en tiempo real; la IA trabaja con un análisis estático del material previamente cargado.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El alcance del proyecto se centra exclusivamente en aprendizaje individual autónomo.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  <a:highlight>
                  <a:schemeClr val="lt1"/>
                </a:highlight>
              </a:rPr>
              <a:t>La versión inicial está optimizada para entorno web de escritorio.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descr="EscuelaIT Duoc UC - Escuela de Informática y Telecomunicaciones Duoc UC - Duoc  UC | LinkedIn" id="134" name="Google Shape;134;g38e2c4947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8e2c4947a4_0_0"/>
          <p:cNvSpPr txBox="1"/>
          <p:nvPr/>
        </p:nvSpPr>
        <p:spPr>
          <a:xfrm>
            <a:off x="1695650" y="720625"/>
            <a:ext cx="8619600" cy="64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8e2c4947a4_0_0"/>
          <p:cNvSpPr/>
          <p:nvPr/>
        </p:nvSpPr>
        <p:spPr>
          <a:xfrm>
            <a:off x="735200" y="1419702"/>
            <a:ext cx="10540500" cy="2250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El proyecto VGD Learn tendrá como alcance el desarrollo de una plataforma educativa digital. La plataforma permitirá: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Un</a:t>
            </a:r>
            <a:r>
              <a:rPr lang="es-MX" sz="1500">
                <a:solidFill>
                  <a:schemeClr val="dk1"/>
                </a:solidFill>
              </a:rPr>
              <a:t> quiz inicial para diagnosticar el estilo de pensamiento del estudiante.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Generar automáticamente </a:t>
            </a:r>
            <a:r>
              <a:rPr b="1" lang="es-MX" sz="1500">
                <a:solidFill>
                  <a:schemeClr val="dk1"/>
                </a:solidFill>
              </a:rPr>
              <a:t>quizzes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b="1" lang="es-MX" sz="1500">
                <a:solidFill>
                  <a:schemeClr val="dk1"/>
                </a:solidFill>
              </a:rPr>
              <a:t>flashcards</a:t>
            </a:r>
            <a:r>
              <a:rPr lang="es-MX" sz="1500">
                <a:solidFill>
                  <a:schemeClr val="dk1"/>
                </a:solidFill>
              </a:rPr>
              <a:t>, </a:t>
            </a:r>
            <a:r>
              <a:rPr b="1" lang="es-MX" sz="1500">
                <a:solidFill>
                  <a:schemeClr val="dk1"/>
                </a:solidFill>
              </a:rPr>
              <a:t>resúmenes</a:t>
            </a:r>
            <a:r>
              <a:rPr lang="es-MX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Ofrecer funciones de </a:t>
            </a:r>
            <a:r>
              <a:rPr b="1" lang="es-MX" sz="1500">
                <a:solidFill>
                  <a:schemeClr val="dk1"/>
                </a:solidFill>
              </a:rPr>
              <a:t>autocompletado de palabras</a:t>
            </a:r>
            <a:r>
              <a:rPr lang="es-MX" sz="1500">
                <a:solidFill>
                  <a:schemeClr val="dk1"/>
                </a:solidFill>
              </a:rPr>
              <a:t> para reforzar vocabulario y comprensión.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MX" sz="1500">
                <a:solidFill>
                  <a:schemeClr val="dk1"/>
                </a:solidFill>
              </a:rPr>
              <a:t>Adaptar las actividades al nivel y necesidades del estudiante.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g37c31d335ee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7c31d335ee_0_6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7c31d335ee_0_63"/>
          <p:cNvSpPr txBox="1"/>
          <p:nvPr/>
        </p:nvSpPr>
        <p:spPr>
          <a:xfrm>
            <a:off x="0" y="10170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g37c31d335ee_0_6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g37c31d335ee_0_63"/>
          <p:cNvSpPr/>
          <p:nvPr/>
        </p:nvSpPr>
        <p:spPr>
          <a:xfrm>
            <a:off x="1159200" y="2110500"/>
            <a:ext cx="10146000" cy="3950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del proyecto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VGD Learn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basa en la metodología ágil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permite trabajar de forma iterativa, colaborativa y con mejoras continuas en cada etapa.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tiene una duración de </a:t>
            </a:r>
            <a:r>
              <a:rPr b="1" lang="es-MX" sz="1600">
                <a:solidFill>
                  <a:schemeClr val="dk1"/>
                </a:solidFill>
              </a:rPr>
              <a:t>dos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semanas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incluye las siguientes instancias: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r>
              <a:rPr b="1" lang="es-MX" sz="1600">
                <a:solidFill>
                  <a:schemeClr val="dk1"/>
                </a:solidFill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Daily Meetings: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MX" sz="1600">
                <a:solidFill>
                  <a:schemeClr val="dk1"/>
                </a:solidFill>
              </a:rPr>
              <a:t>2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veces por semana).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Review: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presentación de avances funcionales.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Retrospective: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análisis de mejoras en la dinámica de trabajo.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proceso se apoya además en herramientas de control como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(versionado y repositorio de código), </a:t>
            </a: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(diseño visual)</a:t>
            </a:r>
            <a:r>
              <a:rPr lang="es-MX" sz="1600">
                <a:solidFill>
                  <a:schemeClr val="dk1"/>
                </a:solidFill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g38e2c4947a4_0_3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8e2c4947a4_0_38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8e2c4947a4_0_385"/>
          <p:cNvSpPr txBox="1"/>
          <p:nvPr/>
        </p:nvSpPr>
        <p:spPr>
          <a:xfrm>
            <a:off x="0" y="77782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 trabajo para el desarrollo del proyecto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8e2c4947a4_0_38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" name="Google Shape;154;g38e2c4947a4_0_3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5738" y="1587249"/>
            <a:ext cx="7360523" cy="512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3700950" y="758025"/>
            <a:ext cx="479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el</a:t>
            </a: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8"/>
          <p:cNvSpPr/>
          <p:nvPr/>
        </p:nvSpPr>
        <p:spPr>
          <a:xfrm>
            <a:off x="6103050" y="2470400"/>
            <a:ext cx="720900" cy="21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 title="Diagrama de arquitectura-Página-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75" y="1505550"/>
            <a:ext cx="11054151" cy="5016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g39d9aee7fe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9d9aee7fe7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9d9aee7fe7_0_0"/>
          <p:cNvSpPr txBox="1"/>
          <p:nvPr/>
        </p:nvSpPr>
        <p:spPr>
          <a:xfrm>
            <a:off x="2410075" y="738225"/>
            <a:ext cx="6870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9d9aee7fe7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3" name="Google Shape;173;g39d9aee7fe7_0_0" title="Diagrama sin título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050" y="1344550"/>
            <a:ext cx="8058325" cy="51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g38e2c4947a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8e2c4947a4_0_2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8e2c4947a4_0_28"/>
          <p:cNvSpPr txBox="1"/>
          <p:nvPr/>
        </p:nvSpPr>
        <p:spPr>
          <a:xfrm>
            <a:off x="2242975" y="909525"/>
            <a:ext cx="687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8e2c4947a4_0_2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g38e2c4947a4_0_28"/>
          <p:cNvSpPr/>
          <p:nvPr/>
        </p:nvSpPr>
        <p:spPr>
          <a:xfrm>
            <a:off x="936420" y="1978550"/>
            <a:ext cx="101460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React + Vite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Backend: Java/Spring Boot/REST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s-MX" sz="2000">
                <a:solidFill>
                  <a:schemeClr val="dk1"/>
                </a:solidFill>
              </a:rPr>
              <a:t>ase de datos</a:t>
            </a: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PostgreSQL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Infraestructura: GCP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y QA: Mockito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versiones: GIT + GitHub/Git Kraken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OpenAI + Langchain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s-MX" sz="2000">
                <a:solidFill>
                  <a:schemeClr val="dk1"/>
                </a:solidFill>
              </a:rPr>
              <a:t>FIGMA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MX" sz="2000">
                <a:solidFill>
                  <a:schemeClr val="dk1"/>
                </a:solidFill>
              </a:rPr>
              <a:t>Trello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83" name="Google Shape;183;g38e2c4947a4_0_28"/>
          <p:cNvPicPr preferRelativeResize="0"/>
          <p:nvPr/>
        </p:nvPicPr>
        <p:blipFill rotWithShape="1">
          <a:blip r:embed="rId4">
            <a:alphaModFix/>
          </a:blip>
          <a:srcRect b="11335" l="14524" r="18878" t="11343"/>
          <a:stretch/>
        </p:blipFill>
        <p:spPr>
          <a:xfrm>
            <a:off x="8525725" y="1460499"/>
            <a:ext cx="2556699" cy="1486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4" name="Google Shape;184;g38e2c4947a4_0_28"/>
          <p:cNvPicPr preferRelativeResize="0"/>
          <p:nvPr/>
        </p:nvPicPr>
        <p:blipFill rotWithShape="1">
          <a:blip r:embed="rId5">
            <a:alphaModFix/>
          </a:blip>
          <a:srcRect b="18138" l="12826" r="16661" t="14408"/>
          <a:stretch/>
        </p:blipFill>
        <p:spPr>
          <a:xfrm>
            <a:off x="9464175" y="5068538"/>
            <a:ext cx="1871575" cy="10026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5" name="Google Shape;185;g38e2c4947a4_0_28"/>
          <p:cNvPicPr preferRelativeResize="0"/>
          <p:nvPr/>
        </p:nvPicPr>
        <p:blipFill rotWithShape="1">
          <a:blip r:embed="rId6">
            <a:alphaModFix/>
          </a:blip>
          <a:srcRect b="308" l="14428" r="12364" t="298"/>
          <a:stretch/>
        </p:blipFill>
        <p:spPr>
          <a:xfrm>
            <a:off x="9825400" y="3510841"/>
            <a:ext cx="1673751" cy="11929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6" name="Google Shape;186;g38e2c4947a4_0_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1875" y="5165184"/>
            <a:ext cx="3141400" cy="98954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7" name="Google Shape;187;g38e2c4947a4_0_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70525" y="1837900"/>
            <a:ext cx="1108975" cy="11089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8" name="Google Shape;188;g38e2c4947a4_0_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41463" y="3364150"/>
            <a:ext cx="1983933" cy="14863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g38e2c4947a4_0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8e2c4947a4_0_288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8e2c4947a4_0_28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g38e2c4947a4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8e2c4947a4_0_48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8e2c4947a4_0_4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 txBox="1"/>
          <p:nvPr/>
        </p:nvSpPr>
        <p:spPr>
          <a:xfrm>
            <a:off x="3463950" y="2028300"/>
            <a:ext cx="5264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s-MX" sz="8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¡</a:t>
            </a:r>
            <a:r>
              <a:rPr b="0" i="0" lang="es-MX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</a:t>
            </a:r>
            <a:endParaRPr b="0" i="0" sz="9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s-MX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GRACIAS!</a:t>
            </a:r>
            <a:endParaRPr b="0" i="0" sz="9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VGD 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